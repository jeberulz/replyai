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dc2979016a4b43" /><Relationship Type="http://schemas.openxmlformats.org/officeDocument/2006/relationships/extended-properties" Target="/docProps/app.xml" Id="R87c1826449404e4e" /><Relationship Type="http://schemas.openxmlformats.org/officeDocument/2006/relationships/officeDocument" Target="/ppt/presentation.xml" Id="R63c990cb85fb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acbbdda574a00"/>
  </p:sldMasterIdLst>
  <p:notesMasterIdLst>
    <p:notesMasterId xmlns:r="http://schemas.openxmlformats.org/officeDocument/2006/relationships" r:id="Rcaf9f952e4044415"/>
  </p:notesMasterIdLst>
  <p:sldIdLst>
    <p:sldId xmlns:r="http://schemas.openxmlformats.org/officeDocument/2006/relationships" id="256" r:id="R19902ccc9ddc4991"/>
    <p:sldId xmlns:r="http://schemas.openxmlformats.org/officeDocument/2006/relationships" id="257" r:id="Rca47e38b0d964f91"/>
    <p:sldId xmlns:r="http://schemas.openxmlformats.org/officeDocument/2006/relationships" id="258" r:id="R604ea9d8ca584d49"/>
    <p:sldId xmlns:r="http://schemas.openxmlformats.org/officeDocument/2006/relationships" id="259" r:id="R362a270590304b01"/>
    <p:sldId xmlns:r="http://schemas.openxmlformats.org/officeDocument/2006/relationships" id="260" r:id="R9f83bf1fbfde4fa0"/>
    <p:sldId xmlns:r="http://schemas.openxmlformats.org/officeDocument/2006/relationships" id="261" r:id="R9d86468356cb41fd"/>
    <p:sldId xmlns:r="http://schemas.openxmlformats.org/officeDocument/2006/relationships" id="262" r:id="R7110e11b8c274e0a"/>
    <p:sldId xmlns:r="http://schemas.openxmlformats.org/officeDocument/2006/relationships" id="263" r:id="R618f16edbf704dbc"/>
    <p:sldId xmlns:r="http://schemas.openxmlformats.org/officeDocument/2006/relationships" id="264" r:id="R9f04f8f315db41fc"/>
    <p:sldId xmlns:r="http://schemas.openxmlformats.org/officeDocument/2006/relationships" id="265" r:id="R062d0755cb9942a2"/>
    <p:sldId xmlns:r="http://schemas.openxmlformats.org/officeDocument/2006/relationships" id="266" r:id="R6be58a6ea53c43f2"/>
    <p:sldId xmlns:r="http://schemas.openxmlformats.org/officeDocument/2006/relationships" id="267" r:id="R1eff10b744634d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dcd4ba46542e8" /><Relationship Type="http://schemas.openxmlformats.org/officeDocument/2006/relationships/slideMaster" Target="/ppt/slideMasters/slideMaster1.xml" Id="R237acbbdda574a00" /><Relationship Type="http://schemas.openxmlformats.org/officeDocument/2006/relationships/notesMaster" Target="/ppt/notesMasters/notesMaster1.xml" Id="Rcaf9f952e4044415" /><Relationship Type="http://schemas.openxmlformats.org/officeDocument/2006/relationships/presProps" Target="/ppt/presProps.xml" Id="Ra6bb58adc1e64420" /><Relationship Type="http://schemas.openxmlformats.org/officeDocument/2006/relationships/tableStyles" Target="/ppt/tableStyles.xml" Id="R2cf26f4c0b5c4c07" /><Relationship Type="http://schemas.openxmlformats.org/officeDocument/2006/relationships/slide" Target="/ppt/slides/slide1.xml" Id="R19902ccc9ddc4991" /><Relationship Type="http://schemas.openxmlformats.org/officeDocument/2006/relationships/slide" Target="/ppt/slides/slide2.xml" Id="Rca47e38b0d964f91" /><Relationship Type="http://schemas.openxmlformats.org/officeDocument/2006/relationships/slide" Target="/ppt/slides/slide3.xml" Id="R604ea9d8ca584d49" /><Relationship Type="http://schemas.openxmlformats.org/officeDocument/2006/relationships/slide" Target="/ppt/slides/slide4.xml" Id="R362a270590304b01" /><Relationship Type="http://schemas.openxmlformats.org/officeDocument/2006/relationships/slide" Target="/ppt/slides/slide5.xml" Id="R9f83bf1fbfde4fa0" /><Relationship Type="http://schemas.openxmlformats.org/officeDocument/2006/relationships/slide" Target="/ppt/slides/slide6.xml" Id="R9d86468356cb41fd" /><Relationship Type="http://schemas.openxmlformats.org/officeDocument/2006/relationships/slide" Target="/ppt/slides/slide7.xml" Id="R7110e11b8c274e0a" /><Relationship Type="http://schemas.openxmlformats.org/officeDocument/2006/relationships/slide" Target="/ppt/slides/slide8.xml" Id="R618f16edbf704dbc" /><Relationship Type="http://schemas.openxmlformats.org/officeDocument/2006/relationships/slide" Target="/ppt/slides/slide9.xml" Id="R9f04f8f315db41fc" /><Relationship Type="http://schemas.openxmlformats.org/officeDocument/2006/relationships/slide" Target="/ppt/slides/slide10.xml" Id="R062d0755cb9942a2" /><Relationship Type="http://schemas.openxmlformats.org/officeDocument/2006/relationships/slide" Target="/ppt/slides/slide11.xml" Id="R6be58a6ea53c43f2" /><Relationship Type="http://schemas.openxmlformats.org/officeDocument/2006/relationships/slide" Target="/ppt/slides/slide12.xml" Id="R1eff10b744634d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b02060bf3a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5791d49d2435f" /><Relationship Type="http://schemas.openxmlformats.org/officeDocument/2006/relationships/notesMaster" Target="/ppt/notesMasters/notesMaster1.xml" Id="R7707da51dbd7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a0519ac5449ad" /><Relationship Type="http://schemas.openxmlformats.org/officeDocument/2006/relationships/notesMaster" Target="/ppt/notesMasters/notesMaster1.xml" Id="Rfd296075785043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8985af8f0471e" /><Relationship Type="http://schemas.openxmlformats.org/officeDocument/2006/relationships/notesMaster" Target="/ppt/notesMasters/notesMaster1.xml" Id="Rb4d9b9ccf5b240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749eaf160415c" /><Relationship Type="http://schemas.openxmlformats.org/officeDocument/2006/relationships/notesMaster" Target="/ppt/notesMasters/notesMaster1.xml" Id="Rf61724c560f140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22f769aa245d0" /><Relationship Type="http://schemas.openxmlformats.org/officeDocument/2006/relationships/notesMaster" Target="/ppt/notesMasters/notesMaster1.xml" Id="R0d3bd1e85bfc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f7ef0e2a5849ec" /><Relationship Type="http://schemas.openxmlformats.org/officeDocument/2006/relationships/notesMaster" Target="/ppt/notesMasters/notesMaster1.xml" Id="R39a7b44d0f084f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b3bb2ff20342b5" /><Relationship Type="http://schemas.openxmlformats.org/officeDocument/2006/relationships/notesMaster" Target="/ppt/notesMasters/notesMaster1.xml" Id="R010b540f07c547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b9284bcf0e4c7f" /><Relationship Type="http://schemas.openxmlformats.org/officeDocument/2006/relationships/notesMaster" Target="/ppt/notesMasters/notesMaster1.xml" Id="Rd13fe26fc2dc41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967ad91fb44ec5" /><Relationship Type="http://schemas.openxmlformats.org/officeDocument/2006/relationships/notesMaster" Target="/ppt/notesMasters/notesMaster1.xml" Id="R01a3dfc46b284c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56f68ba1de40cd" /><Relationship Type="http://schemas.openxmlformats.org/officeDocument/2006/relationships/notesMaster" Target="/ppt/notesMasters/notesMaster1.xml" Id="R257074af45f448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be88ef049b4edf" /><Relationship Type="http://schemas.openxmlformats.org/officeDocument/2006/relationships/notesMaster" Target="/ppt/notesMasters/notesMaster1.xml" Id="R1197a53851034e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fc7c0546394f50" /><Relationship Type="http://schemas.openxmlformats.org/officeDocument/2006/relationships/notesMaster" Target="/ppt/notesMasters/notesMaster1.xml" Id="Rdb66cbe6d71e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6b1e5c566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e450fc190c46fa" /><Relationship Type="http://schemas.openxmlformats.org/officeDocument/2006/relationships/slideLayout" Target="/ppt/slideLayouts/slideLayout1.xml" Id="R66ddd6dd5ad6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dd6dd5ad6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62ce1ae764a65" /><Relationship Type="http://schemas.openxmlformats.org/officeDocument/2006/relationships/notesSlide" Target="/ppt/notesSlides/notesSlide1.xml" Id="R0ec7bb6cec7944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2d089e67e41c8" /><Relationship Type="http://schemas.openxmlformats.org/officeDocument/2006/relationships/notesSlide" Target="/ppt/notesSlides/notesSlide2.xml" Id="R31dca8e84720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fdf55779a4c23" /><Relationship Type="http://schemas.openxmlformats.org/officeDocument/2006/relationships/notesSlide" Target="/ppt/notesSlides/notesSlide3.xml" Id="R8a0f3a5d17e74e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f79f68c1c4fc6" /><Relationship Type="http://schemas.openxmlformats.org/officeDocument/2006/relationships/notesSlide" Target="/ppt/notesSlides/notesSlide4.xml" Id="Rfdf1c0951d9941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4763932794bee" /><Relationship Type="http://schemas.openxmlformats.org/officeDocument/2006/relationships/notesSlide" Target="/ppt/notesSlides/notesSlide5.xml" Id="R087f5147447d4e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c1652c08b4fdb" /><Relationship Type="http://schemas.openxmlformats.org/officeDocument/2006/relationships/notesSlide" Target="/ppt/notesSlides/notesSlide6.xml" Id="Rf36e688a2d72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413e99f4d4af0" /><Relationship Type="http://schemas.openxmlformats.org/officeDocument/2006/relationships/notesSlide" Target="/ppt/notesSlides/notesSlide7.xml" Id="Rf8fcff09ef4440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5c4abee3f45e9" /><Relationship Type="http://schemas.openxmlformats.org/officeDocument/2006/relationships/notesSlide" Target="/ppt/notesSlides/notesSlide8.xml" Id="R86d48b5d734845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b6e3e12e49b7" /><Relationship Type="http://schemas.openxmlformats.org/officeDocument/2006/relationships/notesSlide" Target="/ppt/notesSlides/notesSlide9.xml" Id="R33964a87560343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e749a49464c0c" /><Relationship Type="http://schemas.openxmlformats.org/officeDocument/2006/relationships/notesSlide" Target="/ppt/notesSlides/notesSlide10.xml" Id="Rf47da4c8bb8a4a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935af4e2e473a" /><Relationship Type="http://schemas.openxmlformats.org/officeDocument/2006/relationships/notesSlide" Target="/ppt/notesSlides/notesSlide11.xml" Id="Ra637d1015ee847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841057e234492" /><Relationship Type="http://schemas.openxmlformats.org/officeDocument/2006/relationships/notesSlide" Target="/ppt/notesSlides/notesSlide12.xml" Id="R7b2d702d742e47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1432D9A9-4CB2-4475-ABC4-04BA0C87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7501B468-4DB8-48D0-B8C2-0A4FDA8D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751EE09B-5FAA-40E2-84C0-76D6F397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4400"/>
                </a:solidFill>
              </a:defRPr>
            </a:pPr>
            <a:r>
              <a:rPr sz="975" b="1">
                <a:solidFill>
                  <a:srgbClr val="FF4400"/>
                </a:solidFill>
              </a:rPr>
              <a:t>REPLYPILOT AI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A12C44B1-1E66-4CFB-B2C4-3DDAAE6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>
                <a:solidFill>
                  <a:srgbClr val="FAFAFA"/>
                </a:solidFill>
              </a:defRPr>
            </a:pPr>
            <a:r>
              <a:rPr sz="4800">
                <a:solidFill>
                  <a:srgbClr val="FAFAFA"/>
                </a:solidFill>
              </a:rPr>
              <a:t>Go-to-market and brand strategy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AF8DB3B-AD8B-4DB3-969B-0AB6E116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1A1AA"/>
                </a:solidFill>
              </a:defRPr>
            </a:pPr>
            <a:r>
              <a:rPr sz="1800">
                <a:solidFill>
                  <a:srgbClr val="A1A1AA"/>
                </a:solidFill>
              </a:rPr>
              <a:t>A low-budget founder plan to launch ReplyPilot as the conversation-timing tool for X-native builders.</a:t>
            </a:r>
          </a:p>
        </p:txBody>
      </p:sp>
      <p:sp>
        <p:nvSpPr>
          <p:cNvPr id="6" name="hero-panel">
            <a:extLst xmlns:a="http://schemas.openxmlformats.org/drawingml/2006/main">
              <a:ext uri="{FF2B5EF4-FFF2-40B4-BE49-F238E27FC236}">
                <a16:creationId xmlns:a16="http://schemas.microsoft.com/office/drawing/2014/main" id="{60CF406A-D660-4A83-A848-C6315895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238500" cy="4095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" name="hero-panel-label">
            <a:extLst xmlns:a="http://schemas.openxmlformats.org/drawingml/2006/main">
              <a:ext uri="{FF2B5EF4-FFF2-40B4-BE49-F238E27FC236}">
                <a16:creationId xmlns:a16="http://schemas.microsoft.com/office/drawing/2014/main" id="{E41D5C29-CF35-42B8-BED5-9FCC686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76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LIVE OPPORTUNITY</a:t>
            </a:r>
          </a:p>
        </p:txBody>
      </p:sp>
      <p:sp>
        <p:nvSpPr>
          <p:cNvPr id="8" name="hero-score">
            <a:extLst xmlns:a="http://schemas.openxmlformats.org/drawingml/2006/main">
              <a:ext uri="{FF2B5EF4-FFF2-40B4-BE49-F238E27FC236}">
                <a16:creationId xmlns:a16="http://schemas.microsoft.com/office/drawing/2014/main" id="{502186F9-9665-4037-B360-496E0A0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123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AFAFA"/>
                </a:solidFill>
              </a:defRPr>
            </a:pPr>
            <a:r>
              <a:rPr sz="4350" b="1">
                <a:solidFill>
                  <a:srgbClr val="FAFAFA"/>
                </a:solidFill>
              </a:rPr>
              <a:t>87</a:t>
            </a:r>
          </a:p>
        </p:txBody>
      </p:sp>
      <p:sp>
        <p:nvSpPr>
          <p:cNvPr id="9" name="hero-reason">
            <a:extLst xmlns:a="http://schemas.openxmlformats.org/drawingml/2006/main">
              <a:ext uri="{FF2B5EF4-FFF2-40B4-BE49-F238E27FC236}">
                <a16:creationId xmlns:a16="http://schemas.microsoft.com/office/drawing/2014/main" id="{EAE41378-EBD1-477C-8C3B-1E5BA14F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DE3D8"/>
                </a:solidFill>
              </a:defRPr>
            </a:pPr>
            <a:r>
              <a:rPr sz="1650">
                <a:solidFill>
                  <a:srgbClr val="EDE3D8"/>
                </a:solidFill>
              </a:rPr>
              <a:t>Young thread. Strong topic fit. Missing founder angle.</a:t>
            </a:r>
          </a:p>
        </p:txBody>
      </p:sp>
      <p:sp>
        <p:nvSpPr>
          <p:cNvPr id="10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39BEEE56-B888-4B39-90FC-14469022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1" name="hero-options">
            <a:extLst xmlns:a="http://schemas.openxmlformats.org/drawingml/2006/main">
              <a:ext uri="{FF2B5EF4-FFF2-40B4-BE49-F238E27FC236}">
                <a16:creationId xmlns:a16="http://schemas.microsoft.com/office/drawing/2014/main" id="{77E9E4D4-2B7C-4CDD-AB7A-BA45C0BA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1A1AA"/>
                </a:solidFill>
              </a:defRPr>
            </a:pPr>
            <a:r>
              <a:rPr sz="1500">
                <a:solidFill>
                  <a:srgbClr val="A1A1AA"/>
                </a:solidFill>
              </a:rPr>
              <a:t>3 reply drafts</a:t>
            </a:r>
          </a:p>
          <a:p xmlns:a="http://schemas.openxmlformats.org/drawingml/2006/main">
            <a:pPr>
              <a:defRPr sz="1500">
                <a:solidFill>
                  <a:srgbClr val="A1A1AA"/>
                </a:solidFill>
              </a:defRPr>
            </a:pPr>
            <a:r>
              <a:rPr sz="1500">
                <a:solidFill>
                  <a:srgbClr val="A1A1AA"/>
                </a:solidFill>
              </a:rPr>
              <a:t>Reason for each</a:t>
            </a:r>
          </a:p>
          <a:p xmlns:a="http://schemas.openxmlformats.org/drawingml/2006/main">
            <a:pPr>
              <a:defRPr sz="1500">
                <a:solidFill>
                  <a:srgbClr val="A1A1AA"/>
                </a:solidFill>
              </a:defRPr>
            </a:pPr>
            <a:r>
              <a:rPr sz="1500">
                <a:solidFill>
                  <a:srgbClr val="A1A1AA"/>
                </a:solidFill>
              </a:rPr>
              <a:t>Human-sent always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7F614DCE-A68C-4098-9B54-4D95CEF6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01</a:t>
            </a:r>
          </a:p>
        </p:txBody>
      </p:sp>
    </p:spTree>
    <p:extLst>
      <p:ext uri="{BB962C8B-B14F-4D97-AF65-F5344CB8AC3E}">
        <p14:creationId xmlns:p14="http://schemas.microsoft.com/office/powerpoint/2010/main" val="122268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37FF76AC-4487-4F30-BE34-74A8AB5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67D1DF0C-142C-4EDC-9197-2B171674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2">
            <a:extLst xmlns:a="http://schemas.openxmlformats.org/drawingml/2006/main">
              <a:ext uri="{FF2B5EF4-FFF2-40B4-BE49-F238E27FC236}">
                <a16:creationId xmlns:a16="http://schemas.microsoft.com/office/drawing/2014/main" id="{8B4E157B-C531-49C3-89B5-46211786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LAUNCH DECISION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6D26C391-1BEA-4584-A814-EE8B4B3E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ReplyPilot should own conversation timing, not generic AI writing.</a:t>
            </a:r>
          </a:p>
        </p:txBody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E36E2882-1F56-493C-AAB2-7DBB8A1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02</a:t>
            </a:r>
          </a:p>
        </p:txBody>
      </p:sp>
      <p:sp>
        <p:nvSpPr>
          <p:cNvPr id="6" name="claim">
            <a:extLst xmlns:a="http://schemas.openxmlformats.org/drawingml/2006/main">
              <a:ext uri="{FF2B5EF4-FFF2-40B4-BE49-F238E27FC236}">
                <a16:creationId xmlns:a16="http://schemas.microsoft.com/office/drawing/2014/main" id="{F89F65B2-DF71-45B7-9005-954C6BAB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628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DE3D8"/>
                </a:solidFill>
              </a:defRPr>
            </a:pPr>
            <a:r>
              <a:rPr sz="1875">
                <a:solidFill>
                  <a:srgbClr val="EDE3D8"/>
                </a:solidFill>
              </a:rPr>
              <a:t>The market already has tools for drafting, scheduling, rewriting, and analytics. The product becomes easier to explain when it starts before the composer: what is worth replying to right now?</a:t>
            </a:r>
          </a:p>
        </p:txBody>
      </p:sp>
      <p:sp>
        <p:nvSpPr>
          <p:cNvPr id="7" name="decision-1-card">
            <a:extLst xmlns:a="http://schemas.openxmlformats.org/drawingml/2006/main">
              <a:ext uri="{FF2B5EF4-FFF2-40B4-BE49-F238E27FC236}">
                <a16:creationId xmlns:a16="http://schemas.microsoft.com/office/drawing/2014/main" id="{5FFE8189-7696-481B-A05E-3C7A0250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" name="decision-1-title">
            <a:extLst xmlns:a="http://schemas.openxmlformats.org/drawingml/2006/main">
              <a:ext uri="{FF2B5EF4-FFF2-40B4-BE49-F238E27FC236}">
                <a16:creationId xmlns:a16="http://schemas.microsoft.com/office/drawing/2014/main" id="{849AD39E-A5A9-4A9A-BEB2-A412D40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621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Not the wedge</a:t>
            </a:r>
          </a:p>
        </p:txBody>
      </p:sp>
      <p:sp>
        <p:nvSpPr>
          <p:cNvPr id="9" name="decision-1-body">
            <a:extLst xmlns:a="http://schemas.openxmlformats.org/drawingml/2006/main">
              <a:ext uri="{FF2B5EF4-FFF2-40B4-BE49-F238E27FC236}">
                <a16:creationId xmlns:a16="http://schemas.microsoft.com/office/drawing/2014/main" id="{F516D44F-0773-444C-9B57-5585CB01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8127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AI tweet writing is table stakes and easy to compare against larger tools.</a:t>
            </a:r>
          </a:p>
        </p:txBody>
      </p:sp>
      <p:sp>
        <p:nvSpPr>
          <p:cNvPr id="10" name="decision-2-card">
            <a:extLst xmlns:a="http://schemas.openxmlformats.org/drawingml/2006/main">
              <a:ext uri="{FF2B5EF4-FFF2-40B4-BE49-F238E27FC236}">
                <a16:creationId xmlns:a16="http://schemas.microsoft.com/office/drawing/2014/main" id="{A3A87481-106A-416F-BC51-4FFB5AF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30231C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1" name="decision-2-bar">
            <a:extLst xmlns:a="http://schemas.openxmlformats.org/drawingml/2006/main">
              <a:ext uri="{FF2B5EF4-FFF2-40B4-BE49-F238E27FC236}">
                <a16:creationId xmlns:a16="http://schemas.microsoft.com/office/drawing/2014/main" id="{B717965D-BB31-44AD-A2EF-BF64AE66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2" name="decision-2-title">
            <a:extLst xmlns:a="http://schemas.openxmlformats.org/drawingml/2006/main">
              <a:ext uri="{FF2B5EF4-FFF2-40B4-BE49-F238E27FC236}">
                <a16:creationId xmlns:a16="http://schemas.microsoft.com/office/drawing/2014/main" id="{A55F6838-5E04-4C6E-BA9F-E7BD09ED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48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E3D8"/>
                </a:solidFill>
              </a:defRPr>
            </a:pPr>
            <a:r>
              <a:rPr sz="1800" b="1">
                <a:solidFill>
                  <a:srgbClr val="EDE3D8"/>
                </a:solidFill>
              </a:rPr>
              <a:t>The wedge</a:t>
            </a:r>
          </a:p>
        </p:txBody>
      </p:sp>
      <p:sp>
        <p:nvSpPr>
          <p:cNvPr id="13" name="decision-2-body">
            <a:extLst xmlns:a="http://schemas.openxmlformats.org/drawingml/2006/main">
              <a:ext uri="{FF2B5EF4-FFF2-40B4-BE49-F238E27FC236}">
                <a16:creationId xmlns:a16="http://schemas.microsoft.com/office/drawing/2014/main" id="{34E361A1-7947-45C5-883C-3E16B4BE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Discovery, timing, and the missing angle before the conversation cools.</a:t>
            </a:r>
          </a:p>
        </p:txBody>
      </p:sp>
      <p:sp>
        <p:nvSpPr>
          <p:cNvPr id="14" name="decision-3-card">
            <a:extLst xmlns:a="http://schemas.openxmlformats.org/drawingml/2006/main">
              <a:ext uri="{FF2B5EF4-FFF2-40B4-BE49-F238E27FC236}">
                <a16:creationId xmlns:a16="http://schemas.microsoft.com/office/drawing/2014/main" id="{54ECB7F2-368B-40E3-817C-6A4708E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5" name="decision-3-title">
            <a:extLst xmlns:a="http://schemas.openxmlformats.org/drawingml/2006/main">
              <a:ext uri="{FF2B5EF4-FFF2-40B4-BE49-F238E27FC236}">
                <a16:creationId xmlns:a16="http://schemas.microsoft.com/office/drawing/2014/main" id="{9CCDD2BB-F5D9-42B5-A5FF-7E1CB8E4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339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The constraint</a:t>
            </a:r>
          </a:p>
        </p:txBody>
      </p:sp>
      <p:sp>
        <p:nvSpPr>
          <p:cNvPr id="16" name="decision-3-body">
            <a:extLst xmlns:a="http://schemas.openxmlformats.org/drawingml/2006/main">
              <a:ext uri="{FF2B5EF4-FFF2-40B4-BE49-F238E27FC236}">
                <a16:creationId xmlns:a16="http://schemas.microsoft.com/office/drawing/2014/main" id="{00B064F9-35F4-471D-82BB-45F2F2E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530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No auto-posting, no fake virality scores, and every send stays human-approved.</a:t>
            </a:r>
          </a:p>
        </p:txBody>
      </p:sp>
    </p:spTree>
    <p:extLst>
      <p:ext uri="{BB962C8B-B14F-4D97-AF65-F5344CB8AC3E}">
        <p14:creationId xmlns:p14="http://schemas.microsoft.com/office/powerpoint/2010/main" val="1941248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8BFFFDD9-7093-427D-BA25-BDE394A3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740E25F6-38EF-425D-AFCA-0BAE171B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3">
            <a:extLst xmlns:a="http://schemas.openxmlformats.org/drawingml/2006/main">
              <a:ext uri="{FF2B5EF4-FFF2-40B4-BE49-F238E27FC236}">
                <a16:creationId xmlns:a16="http://schemas.microsoft.com/office/drawing/2014/main" id="{D742617D-14D7-4AE3-902F-65638A7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MARKET REALITY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0E7DC970-C93B-4B06-80B8-8B7AF66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Competitors are broad; ReplyPilot can be narrow and sharper.</a:t>
            </a:r>
          </a:p>
        </p:txBody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A58B991-6240-4733-93A0-9BA8902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03</a:t>
            </a:r>
          </a:p>
        </p:txBody>
      </p:sp>
      <p:sp>
        <p:nvSpPr>
          <p:cNvPr id="6" name="typefully-card">
            <a:extLst xmlns:a="http://schemas.openxmlformats.org/drawingml/2006/main">
              <a:ext uri="{FF2B5EF4-FFF2-40B4-BE49-F238E27FC236}">
                <a16:creationId xmlns:a16="http://schemas.microsoft.com/office/drawing/2014/main" id="{D9D2D09E-8D63-4DEC-B115-32E3162B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" name="typefully-title">
            <a:extLst xmlns:a="http://schemas.openxmlformats.org/drawingml/2006/main">
              <a:ext uri="{FF2B5EF4-FFF2-40B4-BE49-F238E27FC236}">
                <a16:creationId xmlns:a16="http://schemas.microsoft.com/office/drawing/2014/main" id="{A265A0A7-15AF-4595-BBF6-9E5137FC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Typefully</a:t>
            </a:r>
          </a:p>
        </p:txBody>
      </p:sp>
      <p:sp>
        <p:nvSpPr>
          <p:cNvPr id="8" name="typefully-body">
            <a:extLst xmlns:a="http://schemas.openxmlformats.org/drawingml/2006/main">
              <a:ext uri="{FF2B5EF4-FFF2-40B4-BE49-F238E27FC236}">
                <a16:creationId xmlns:a16="http://schemas.microsoft.com/office/drawing/2014/main" id="{282BD15F-CAEB-4B44-88AC-957B156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781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AI-assisted writing, collaborative scheduling, cross-posting, previews, and analytics.</a:t>
            </a:r>
          </a:p>
        </p:txBody>
      </p:sp>
      <p:sp>
        <p:nvSpPr>
          <p:cNvPr id="9" name="tweethunter-card">
            <a:extLst xmlns:a="http://schemas.openxmlformats.org/drawingml/2006/main">
              <a:ext uri="{FF2B5EF4-FFF2-40B4-BE49-F238E27FC236}">
                <a16:creationId xmlns:a16="http://schemas.microsoft.com/office/drawing/2014/main" id="{948F3A14-56B1-4BEF-8F36-FAF46A0A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0" name="tweethunter-title">
            <a:extLst xmlns:a="http://schemas.openxmlformats.org/drawingml/2006/main">
              <a:ext uri="{FF2B5EF4-FFF2-40B4-BE49-F238E27FC236}">
                <a16:creationId xmlns:a16="http://schemas.microsoft.com/office/drawing/2014/main" id="{C1D6467B-CA16-45B7-A1DB-63C209BA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Tweet Hunter</a:t>
            </a:r>
          </a:p>
        </p:txBody>
      </p:sp>
      <p:sp>
        <p:nvSpPr>
          <p:cNvPr id="11" name="tweethunter-body">
            <a:extLst xmlns:a="http://schemas.openxmlformats.org/drawingml/2006/main">
              <a:ext uri="{FF2B5EF4-FFF2-40B4-BE49-F238E27FC236}">
                <a16:creationId xmlns:a16="http://schemas.microsoft.com/office/drawing/2014/main" id="{26F4CE04-F546-4360-867C-82A92FBB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Viral tweet libraries, AI writing, scheduling, automation, and X growth workflows.</a:t>
            </a:r>
          </a:p>
        </p:txBody>
      </p:sp>
      <p:sp>
        <p:nvSpPr>
          <p:cNvPr id="12" name="hypefury-card">
            <a:extLst xmlns:a="http://schemas.openxmlformats.org/drawingml/2006/main">
              <a:ext uri="{FF2B5EF4-FFF2-40B4-BE49-F238E27FC236}">
                <a16:creationId xmlns:a16="http://schemas.microsoft.com/office/drawing/2014/main" id="{EF3948C1-8A5F-473E-8A27-1D22353C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" name="hypefury-title">
            <a:extLst xmlns:a="http://schemas.openxmlformats.org/drawingml/2006/main">
              <a:ext uri="{FF2B5EF4-FFF2-40B4-BE49-F238E27FC236}">
                <a16:creationId xmlns:a16="http://schemas.microsoft.com/office/drawing/2014/main" id="{5E008884-3381-425F-98CE-C737C8E1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Hypefury</a:t>
            </a:r>
          </a:p>
        </p:txBody>
      </p:sp>
      <p:sp>
        <p:nvSpPr>
          <p:cNvPr id="14" name="hypefury-body">
            <a:extLst xmlns:a="http://schemas.openxmlformats.org/drawingml/2006/main">
              <a:ext uri="{FF2B5EF4-FFF2-40B4-BE49-F238E27FC236}">
                <a16:creationId xmlns:a16="http://schemas.microsoft.com/office/drawing/2014/main" id="{3AF7F2B4-A867-4829-ACB9-ABA5E56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81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Scheduling, cross-posting, auto-plugs, AI posts, analytics, and engagement builder.</a:t>
            </a:r>
          </a:p>
        </p:txBody>
      </p:sp>
      <p:sp>
        <p:nvSpPr>
          <p:cNvPr id="15" name="market-bottom">
            <a:extLst xmlns:a="http://schemas.openxmlformats.org/drawingml/2006/main">
              <a:ext uri="{FF2B5EF4-FFF2-40B4-BE49-F238E27FC236}">
                <a16:creationId xmlns:a16="http://schemas.microsoft.com/office/drawing/2014/main" id="{CBC5636C-8414-4F04-9E0A-FD346631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DE3D8"/>
                </a:solidFill>
              </a:defRPr>
            </a:pPr>
            <a:r>
              <a:rPr sz="2100">
                <a:solidFill>
                  <a:srgbClr val="EDE3D8"/>
                </a:solidFill>
              </a:rPr>
              <a:t>ReplyPilot's opening: the radar layer that tells a founder which conversation deserves a reply before they start writing.</a:t>
            </a:r>
          </a:p>
        </p:txBody>
      </p:sp>
    </p:spTree>
    <p:extLst>
      <p:ext uri="{BB962C8B-B14F-4D97-AF65-F5344CB8AC3E}">
        <p14:creationId xmlns:p14="http://schemas.microsoft.com/office/powerpoint/2010/main" val="2064633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CCCFA679-87A8-49A5-8B13-2E919878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9CEEC864-383B-4ECA-9217-1E2FA219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4">
            <a:extLst xmlns:a="http://schemas.openxmlformats.org/drawingml/2006/main">
              <a:ext uri="{FF2B5EF4-FFF2-40B4-BE49-F238E27FC236}">
                <a16:creationId xmlns:a16="http://schemas.microsoft.com/office/drawing/2014/main" id="{8DA13F80-2506-4CF5-A52A-C09B5F73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BEACHHEAD CUSTOMER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F14D81EF-148D-4593-AC5D-20E0736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Start with X-native founders who already believe replies drive growth.</a:t>
            </a:r>
          </a:p>
        </p:txBody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97A31C6-0330-4E3D-910D-112BFE55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04</a:t>
            </a:r>
          </a:p>
        </p:txBody>
      </p:sp>
      <p:sp>
        <p:nvSpPr>
          <p:cNvPr id="6" name="icp-main">
            <a:extLst xmlns:a="http://schemas.openxmlformats.org/drawingml/2006/main">
              <a:ext uri="{FF2B5EF4-FFF2-40B4-BE49-F238E27FC236}">
                <a16:creationId xmlns:a16="http://schemas.microsoft.com/office/drawing/2014/main" id="{3B65EEEB-6F79-4D72-A004-94A40F09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2197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" name="icp-title">
            <a:extLst xmlns:a="http://schemas.openxmlformats.org/drawingml/2006/main">
              <a:ext uri="{FF2B5EF4-FFF2-40B4-BE49-F238E27FC236}">
                <a16:creationId xmlns:a16="http://schemas.microsoft.com/office/drawing/2014/main" id="{8DE5E9CD-8848-4232-8F6D-602714A6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AFAFA"/>
                </a:solidFill>
              </a:defRPr>
            </a:pPr>
            <a:r>
              <a:rPr sz="1950" b="1">
                <a:solidFill>
                  <a:srgbClr val="FAFAFA"/>
                </a:solidFill>
              </a:rPr>
              <a:t>Best first users</a:t>
            </a:r>
          </a:p>
        </p:txBody>
      </p:sp>
      <p:sp>
        <p:nvSpPr>
          <p:cNvPr id="8" name="icp-dot-0">
            <a:extLst xmlns:a="http://schemas.openxmlformats.org/drawingml/2006/main">
              <a:ext uri="{FF2B5EF4-FFF2-40B4-BE49-F238E27FC236}">
                <a16:creationId xmlns:a16="http://schemas.microsoft.com/office/drawing/2014/main" id="{78984710-D1B6-4F5E-89E8-917974B7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9" name="icp-text-0">
            <a:extLst xmlns:a="http://schemas.openxmlformats.org/drawingml/2006/main">
              <a:ext uri="{FF2B5EF4-FFF2-40B4-BE49-F238E27FC236}">
                <a16:creationId xmlns:a16="http://schemas.microsoft.com/office/drawing/2014/main" id="{F55A36BD-314C-4AFA-B6F5-9252550E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Solo founders, indie hackers, and AI builders.</a:t>
            </a:r>
          </a:p>
        </p:txBody>
      </p:sp>
      <p:sp>
        <p:nvSpPr>
          <p:cNvPr id="10" name="icp-dot-1">
            <a:extLst xmlns:a="http://schemas.openxmlformats.org/drawingml/2006/main">
              <a:ext uri="{FF2B5EF4-FFF2-40B4-BE49-F238E27FC236}">
                <a16:creationId xmlns:a16="http://schemas.microsoft.com/office/drawing/2014/main" id="{E6ACBC27-549B-47AF-9BB2-9EB537A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1" name="icp-text-1">
            <a:extLst xmlns:a="http://schemas.openxmlformats.org/drawingml/2006/main">
              <a:ext uri="{FF2B5EF4-FFF2-40B4-BE49-F238E27FC236}">
                <a16:creationId xmlns:a16="http://schemas.microsoft.com/office/drawing/2014/main" id="{0D7858D8-DDE5-4BF2-B9BE-DB49D05C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500-25,000 followers with a visible niche.</a:t>
            </a:r>
          </a:p>
        </p:txBody>
      </p:sp>
      <p:sp>
        <p:nvSpPr>
          <p:cNvPr id="12" name="icp-dot-2">
            <a:extLst xmlns:a="http://schemas.openxmlformats.org/drawingml/2006/main">
              <a:ext uri="{FF2B5EF4-FFF2-40B4-BE49-F238E27FC236}">
                <a16:creationId xmlns:a16="http://schemas.microsoft.com/office/drawing/2014/main" id="{8EF77543-DAAE-4370-AA2C-90A1B6F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3" name="icp-text-2">
            <a:extLst xmlns:a="http://schemas.openxmlformats.org/drawingml/2006/main">
              <a:ext uri="{FF2B5EF4-FFF2-40B4-BE49-F238E27FC236}">
                <a16:creationId xmlns:a16="http://schemas.microsoft.com/office/drawing/2014/main" id="{8D5AF33D-05C4-4B66-82A3-D7C0402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Posts or replies at least 4 days per week.</a:t>
            </a:r>
          </a:p>
        </p:txBody>
      </p:sp>
      <p:sp>
        <p:nvSpPr>
          <p:cNvPr id="14" name="icp-dot-3">
            <a:extLst xmlns:a="http://schemas.openxmlformats.org/drawingml/2006/main">
              <a:ext uri="{FF2B5EF4-FFF2-40B4-BE49-F238E27FC236}">
                <a16:creationId xmlns:a16="http://schemas.microsoft.com/office/drawing/2014/main" id="{049BE052-19ED-461C-820A-C2850976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5" name="icp-text-3">
            <a:extLst xmlns:a="http://schemas.openxmlformats.org/drawingml/2006/main">
              <a:ext uri="{FF2B5EF4-FFF2-40B4-BE49-F238E27FC236}">
                <a16:creationId xmlns:a16="http://schemas.microsoft.com/office/drawing/2014/main" id="{45534462-8BEC-492F-8D80-E041CAE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Already uses X as a customer, investor, or audience channel.</a:t>
            </a:r>
          </a:p>
        </p:txBody>
      </p:sp>
      <p:sp>
        <p:nvSpPr>
          <p:cNvPr id="16" name="avoid-main">
            <a:extLst xmlns:a="http://schemas.openxmlformats.org/drawingml/2006/main">
              <a:ext uri="{FF2B5EF4-FFF2-40B4-BE49-F238E27FC236}">
                <a16:creationId xmlns:a16="http://schemas.microsoft.com/office/drawing/2014/main" id="{766F8810-2F48-4DA8-92E7-D1A761C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476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7" name="avoid-title">
            <a:extLst xmlns:a="http://schemas.openxmlformats.org/drawingml/2006/main">
              <a:ext uri="{FF2B5EF4-FFF2-40B4-BE49-F238E27FC236}">
                <a16:creationId xmlns:a16="http://schemas.microsoft.com/office/drawing/2014/main" id="{73A4BE9F-0A0D-4912-A9D6-6BC88A6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AFAFA"/>
                </a:solidFill>
              </a:defRPr>
            </a:pPr>
            <a:r>
              <a:rPr sz="1950" b="1">
                <a:solidFill>
                  <a:srgbClr val="FAFAFA"/>
                </a:solidFill>
              </a:rPr>
              <a:t>Avoid at launch</a:t>
            </a:r>
          </a:p>
        </p:txBody>
      </p:sp>
      <p:sp>
        <p:nvSpPr>
          <p:cNvPr id="18" name="avoid-dot-0">
            <a:extLst xmlns:a="http://schemas.openxmlformats.org/drawingml/2006/main">
              <a:ext uri="{FF2B5EF4-FFF2-40B4-BE49-F238E27FC236}">
                <a16:creationId xmlns:a16="http://schemas.microsoft.com/office/drawing/2014/main" id="{7023629F-6F56-4504-9976-3FF0551B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9" name="avoid-text-0">
            <a:extLst xmlns:a="http://schemas.openxmlformats.org/drawingml/2006/main">
              <a:ext uri="{FF2B5EF4-FFF2-40B4-BE49-F238E27FC236}">
                <a16:creationId xmlns:a16="http://schemas.microsoft.com/office/drawing/2014/main" id="{8F0BB60A-F7BD-4E1C-9583-12183DE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Agencies and multi-account teams.</a:t>
            </a:r>
          </a:p>
        </p:txBody>
      </p:sp>
      <p:sp>
        <p:nvSpPr>
          <p:cNvPr id="20" name="avoid-dot-1">
            <a:extLst xmlns:a="http://schemas.openxmlformats.org/drawingml/2006/main">
              <a:ext uri="{FF2B5EF4-FFF2-40B4-BE49-F238E27FC236}">
                <a16:creationId xmlns:a16="http://schemas.microsoft.com/office/drawing/2014/main" id="{DDFA43BF-87F8-405C-9ABE-6FF8E6D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21" name="avoid-text-1">
            <a:extLst xmlns:a="http://schemas.openxmlformats.org/drawingml/2006/main">
              <a:ext uri="{FF2B5EF4-FFF2-40B4-BE49-F238E27FC236}">
                <a16:creationId xmlns:a16="http://schemas.microsoft.com/office/drawing/2014/main" id="{F0FB3E64-9F40-4C7A-9F7E-F805287D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Beginners without a niche.</a:t>
            </a:r>
          </a:p>
        </p:txBody>
      </p:sp>
      <p:sp>
        <p:nvSpPr>
          <p:cNvPr id="22" name="avoid-dot-2">
            <a:extLst xmlns:a="http://schemas.openxmlformats.org/drawingml/2006/main">
              <a:ext uri="{FF2B5EF4-FFF2-40B4-BE49-F238E27FC236}">
                <a16:creationId xmlns:a16="http://schemas.microsoft.com/office/drawing/2014/main" id="{60EF3ABE-2F12-4182-9BD2-05EA1A4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23" name="avoid-text-2">
            <a:extLst xmlns:a="http://schemas.openxmlformats.org/drawingml/2006/main">
              <a:ext uri="{FF2B5EF4-FFF2-40B4-BE49-F238E27FC236}">
                <a16:creationId xmlns:a16="http://schemas.microsoft.com/office/drawing/2014/main" id="{36E4CE90-286C-46CC-A293-34771F8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Users seeking automated replies.</a:t>
            </a:r>
          </a:p>
        </p:txBody>
      </p:sp>
      <p:sp>
        <p:nvSpPr>
          <p:cNvPr id="24" name="avoid-dot-3">
            <a:extLst xmlns:a="http://schemas.openxmlformats.org/drawingml/2006/main">
              <a:ext uri="{FF2B5EF4-FFF2-40B4-BE49-F238E27FC236}">
                <a16:creationId xmlns:a16="http://schemas.microsoft.com/office/drawing/2014/main" id="{81F86DED-7B52-49B2-B858-83BB6EA9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25" name="avoid-text-3">
            <a:extLst xmlns:a="http://schemas.openxmlformats.org/drawingml/2006/main">
              <a:ext uri="{FF2B5EF4-FFF2-40B4-BE49-F238E27FC236}">
                <a16:creationId xmlns:a16="http://schemas.microsoft.com/office/drawing/2014/main" id="{770CD631-0015-49FB-B6E3-BD3C721F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86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AFAFA"/>
                </a:solidFill>
              </a:defRPr>
            </a:pPr>
            <a:r>
              <a:rPr sz="1350">
                <a:solidFill>
                  <a:srgbClr val="FAFAFA"/>
                </a:solidFill>
              </a:rPr>
              <a:t>Enterprise approval workflows.</a:t>
            </a:r>
          </a:p>
        </p:txBody>
      </p:sp>
    </p:spTree>
    <p:extLst>
      <p:ext uri="{BB962C8B-B14F-4D97-AF65-F5344CB8AC3E}">
        <p14:creationId xmlns:p14="http://schemas.microsoft.com/office/powerpoint/2010/main" val="1496035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7ECAED22-CFAF-4E78-9277-4D89A2AC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F45CD907-9ED5-4081-856C-6BD088A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5">
            <a:extLst xmlns:a="http://schemas.openxmlformats.org/drawingml/2006/main">
              <a:ext uri="{FF2B5EF4-FFF2-40B4-BE49-F238E27FC236}">
                <a16:creationId xmlns:a16="http://schemas.microsoft.com/office/drawing/2014/main" id="{A27FD63B-CFF3-451B-8A02-BE0DD2A3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POSITIONING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C253EA1E-5990-4AFD-9FC0-1EB7A8DD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Own conversation intelligence for X growth.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4FEC4689-E2B1-4023-B68F-9042FEE4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05</a:t>
            </a:r>
          </a:p>
        </p:txBody>
      </p:sp>
      <p:sp>
        <p:nvSpPr>
          <p:cNvPr id="6" name="positioning-statement">
            <a:extLst xmlns:a="http://schemas.openxmlformats.org/drawingml/2006/main">
              <a:ext uri="{FF2B5EF4-FFF2-40B4-BE49-F238E27FC236}">
                <a16:creationId xmlns:a16="http://schemas.microsoft.com/office/drawing/2014/main" id="{ACA32DCE-1602-4AC6-80B5-3BA5584F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EDE3D8"/>
                </a:solidFill>
              </a:defRPr>
            </a:pPr>
            <a:r>
              <a:rPr sz="2250">
                <a:solidFill>
                  <a:srgbClr val="EDE3D8"/>
                </a:solidFill>
              </a:rPr>
              <a:t>For founders who grow through X, ReplyPilot surfaces high-opportunity posts early and drafts three on-voice replies with a clear reason to send.</a:t>
            </a:r>
          </a:p>
        </p:txBody>
      </p:sp>
      <p:sp>
        <p:nvSpPr>
          <p:cNvPr id="7" name="pos-1-card">
            <a:extLst xmlns:a="http://schemas.openxmlformats.org/drawingml/2006/main">
              <a:ext uri="{FF2B5EF4-FFF2-40B4-BE49-F238E27FC236}">
                <a16:creationId xmlns:a16="http://schemas.microsoft.com/office/drawing/2014/main" id="{8D3CD91D-3610-4736-A05F-680D72CC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0231C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" name="pos-1-bar">
            <a:extLst xmlns:a="http://schemas.openxmlformats.org/drawingml/2006/main">
              <a:ext uri="{FF2B5EF4-FFF2-40B4-BE49-F238E27FC236}">
                <a16:creationId xmlns:a16="http://schemas.microsoft.com/office/drawing/2014/main" id="{0A21C9F3-49FB-4661-825F-EAA59457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9" name="pos-1-title">
            <a:extLst xmlns:a="http://schemas.openxmlformats.org/drawingml/2006/main">
              <a:ext uri="{FF2B5EF4-FFF2-40B4-BE49-F238E27FC236}">
                <a16:creationId xmlns:a16="http://schemas.microsoft.com/office/drawing/2014/main" id="{92D02E71-7AF6-4C85-B16B-7709018C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71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E3D8"/>
                </a:solidFill>
              </a:defRPr>
            </a:pPr>
            <a:r>
              <a:rPr sz="1800" b="1">
                <a:solidFill>
                  <a:srgbClr val="EDE3D8"/>
                </a:solidFill>
              </a:rPr>
              <a:t>Primary line</a:t>
            </a:r>
          </a:p>
        </p:txBody>
      </p:sp>
      <p:sp>
        <p:nvSpPr>
          <p:cNvPr id="10" name="pos-1-body">
            <a:extLst xmlns:a="http://schemas.openxmlformats.org/drawingml/2006/main">
              <a:ext uri="{FF2B5EF4-FFF2-40B4-BE49-F238E27FC236}">
                <a16:creationId xmlns:a16="http://schemas.microsoft.com/office/drawing/2014/main" id="{4C903224-C2D2-4287-ACDF-DFA5DA79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Find high-fit X conversations before the window closes.</a:t>
            </a:r>
          </a:p>
        </p:txBody>
      </p:sp>
      <p:sp>
        <p:nvSpPr>
          <p:cNvPr id="11" name="pos-2-card">
            <a:extLst xmlns:a="http://schemas.openxmlformats.org/drawingml/2006/main">
              <a:ext uri="{FF2B5EF4-FFF2-40B4-BE49-F238E27FC236}">
                <a16:creationId xmlns:a16="http://schemas.microsoft.com/office/drawing/2014/main" id="{95E3CF99-77DE-4DF6-85A4-AEAA65F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" name="pos-2-title">
            <a:extLst xmlns:a="http://schemas.openxmlformats.org/drawingml/2006/main">
              <a:ext uri="{FF2B5EF4-FFF2-40B4-BE49-F238E27FC236}">
                <a16:creationId xmlns:a16="http://schemas.microsoft.com/office/drawing/2014/main" id="{FA20054E-1564-4A7A-BD7B-EEDB780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Founder pitch</a:t>
            </a:r>
          </a:p>
        </p:txBody>
      </p:sp>
      <p:sp>
        <p:nvSpPr>
          <p:cNvPr id="13" name="pos-2-body">
            <a:extLst xmlns:a="http://schemas.openxmlformats.org/drawingml/2006/main">
              <a:ext uri="{FF2B5EF4-FFF2-40B4-BE49-F238E27FC236}">
                <a16:creationId xmlns:a16="http://schemas.microsoft.com/office/drawing/2014/main" id="{50E93C4A-A7AA-42C0-A216-532F10B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910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The hard part is not writing. It is finding the right post early.</a:t>
            </a:r>
          </a:p>
        </p:txBody>
      </p:sp>
      <p:sp>
        <p:nvSpPr>
          <p:cNvPr id="14" name="pos-3-card">
            <a:extLst xmlns:a="http://schemas.openxmlformats.org/drawingml/2006/main">
              <a:ext uri="{FF2B5EF4-FFF2-40B4-BE49-F238E27FC236}">
                <a16:creationId xmlns:a16="http://schemas.microsoft.com/office/drawing/2014/main" id="{8C8A074B-5BB6-4C5E-9DCA-7516C958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5" name="pos-3-title">
            <a:extLst xmlns:a="http://schemas.openxmlformats.org/drawingml/2006/main">
              <a:ext uri="{FF2B5EF4-FFF2-40B4-BE49-F238E27FC236}">
                <a16:creationId xmlns:a16="http://schemas.microsoft.com/office/drawing/2014/main" id="{89015ED4-6A12-4E10-96EE-ED2369C5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Trust line</a:t>
            </a:r>
          </a:p>
        </p:txBody>
      </p:sp>
      <p:sp>
        <p:nvSpPr>
          <p:cNvPr id="16" name="pos-3-body">
            <a:extLst xmlns:a="http://schemas.openxmlformats.org/drawingml/2006/main">
              <a:ext uri="{FF2B5EF4-FFF2-40B4-BE49-F238E27FC236}">
                <a16:creationId xmlns:a16="http://schemas.microsoft.com/office/drawing/2014/main" id="{A5D7CCF6-ECE2-4F2D-9E96-B3E9FE5A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AI-assisted replies. Human-sent, always.</a:t>
            </a:r>
          </a:p>
        </p:txBody>
      </p:sp>
    </p:spTree>
    <p:extLst>
      <p:ext uri="{BB962C8B-B14F-4D97-AF65-F5344CB8AC3E}">
        <p14:creationId xmlns:p14="http://schemas.microsoft.com/office/powerpoint/2010/main" val="556419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9FA6BC6F-48C3-46E2-8183-9A411911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8B3A30EF-252D-43F4-B15C-F4B09D05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6">
            <a:extLst xmlns:a="http://schemas.openxmlformats.org/drawingml/2006/main">
              <a:ext uri="{FF2B5EF4-FFF2-40B4-BE49-F238E27FC236}">
                <a16:creationId xmlns:a16="http://schemas.microsoft.com/office/drawing/2014/main" id="{0EEDA733-9820-448A-9F92-0251017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BRAND STRATEGY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C57C2C84-EE75-4CD4-A239-02ADE83F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The brand should feel like a private radar.</a:t>
            </a:r>
          </a:p>
        </p:txBody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EC19C7B0-05A0-4EF5-A11B-9FA09BC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06</a:t>
            </a:r>
          </a:p>
        </p:txBody>
      </p:sp>
      <p:sp>
        <p:nvSpPr>
          <p:cNvPr id="6" name="brand-idea">
            <a:extLst xmlns:a="http://schemas.openxmlformats.org/drawingml/2006/main">
              <a:ext uri="{FF2B5EF4-FFF2-40B4-BE49-F238E27FC236}">
                <a16:creationId xmlns:a16="http://schemas.microsoft.com/office/drawing/2014/main" id="{402750DF-6C33-4D77-8D87-C9E436B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EDE3D8"/>
                </a:solidFill>
              </a:defRPr>
            </a:pPr>
            <a:r>
              <a:rPr sz="3600">
                <a:solidFill>
                  <a:srgbClr val="EDE3D8"/>
                </a:solidFill>
              </a:rPr>
              <a:t>The private radar for founder-led conversations.</a:t>
            </a:r>
          </a:p>
        </p:txBody>
      </p:sp>
      <p:sp>
        <p:nvSpPr>
          <p:cNvPr id="7" name="brand-principles-dot-0">
            <a:extLst xmlns:a="http://schemas.openxmlformats.org/drawingml/2006/main">
              <a:ext uri="{FF2B5EF4-FFF2-40B4-BE49-F238E27FC236}">
                <a16:creationId xmlns:a16="http://schemas.microsoft.com/office/drawing/2014/main" id="{6EFD06CC-84E7-4B26-BBC1-A95606B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8" name="brand-principles-text-0">
            <a:extLst xmlns:a="http://schemas.openxmlformats.org/drawingml/2006/main">
              <a:ext uri="{FF2B5EF4-FFF2-40B4-BE49-F238E27FC236}">
                <a16:creationId xmlns:a16="http://schemas.microsoft.com/office/drawing/2014/main" id="{911470D8-1FBA-4996-B1FD-66C94B2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AFAFA"/>
                </a:solidFill>
              </a:defRPr>
            </a:pPr>
            <a:r>
              <a:rPr sz="1425">
                <a:solidFill>
                  <a:srgbClr val="FAFAFA"/>
                </a:solidFill>
              </a:rPr>
              <a:t>No fake certainty. Use reasons and observed outcomes.</a:t>
            </a:r>
          </a:p>
        </p:txBody>
      </p:sp>
      <p:sp>
        <p:nvSpPr>
          <p:cNvPr id="9" name="brand-principles-dot-1">
            <a:extLst xmlns:a="http://schemas.openxmlformats.org/drawingml/2006/main">
              <a:ext uri="{FF2B5EF4-FFF2-40B4-BE49-F238E27FC236}">
                <a16:creationId xmlns:a16="http://schemas.microsoft.com/office/drawing/2014/main" id="{F2366360-01D9-4B1F-9E21-3C9738F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0" name="brand-principles-text-1">
            <a:extLst xmlns:a="http://schemas.openxmlformats.org/drawingml/2006/main">
              <a:ext uri="{FF2B5EF4-FFF2-40B4-BE49-F238E27FC236}">
                <a16:creationId xmlns:a16="http://schemas.microsoft.com/office/drawing/2014/main" id="{88A4D35A-38C3-4B31-A9BB-247AF834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AFAFA"/>
                </a:solidFill>
              </a:defRPr>
            </a:pPr>
            <a:r>
              <a:rPr sz="1425">
                <a:solidFill>
                  <a:srgbClr val="FAFAFA"/>
                </a:solidFill>
              </a:rPr>
              <a:t>Human sends every time. The product prepares, the user decides.</a:t>
            </a:r>
          </a:p>
        </p:txBody>
      </p:sp>
      <p:sp>
        <p:nvSpPr>
          <p:cNvPr id="11" name="brand-principles-dot-2">
            <a:extLst xmlns:a="http://schemas.openxmlformats.org/drawingml/2006/main">
              <a:ext uri="{FF2B5EF4-FFF2-40B4-BE49-F238E27FC236}">
                <a16:creationId xmlns:a16="http://schemas.microsoft.com/office/drawing/2014/main" id="{C4534164-E0C5-486E-880E-8C5DFCC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2" name="brand-principles-text-2">
            <a:extLst xmlns:a="http://schemas.openxmlformats.org/drawingml/2006/main">
              <a:ext uri="{FF2B5EF4-FFF2-40B4-BE49-F238E27FC236}">
                <a16:creationId xmlns:a16="http://schemas.microsoft.com/office/drawing/2014/main" id="{DFED0A80-E98E-47BB-9496-57CA0F2B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AFAFA"/>
                </a:solidFill>
              </a:defRPr>
            </a:pPr>
            <a:r>
              <a:rPr sz="1425">
                <a:solidFill>
                  <a:srgbClr val="FAFAFA"/>
                </a:solidFill>
              </a:rPr>
              <a:t>Angles over templates. Show what is missing in the conversation.</a:t>
            </a:r>
          </a:p>
        </p:txBody>
      </p:sp>
      <p:sp>
        <p:nvSpPr>
          <p:cNvPr id="13" name="brand-principles-dot-3">
            <a:extLst xmlns:a="http://schemas.openxmlformats.org/drawingml/2006/main">
              <a:ext uri="{FF2B5EF4-FFF2-40B4-BE49-F238E27FC236}">
                <a16:creationId xmlns:a16="http://schemas.microsoft.com/office/drawing/2014/main" id="{D059EC42-4563-42C0-B54E-2D97881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4" name="brand-principles-text-3">
            <a:extLst xmlns:a="http://schemas.openxmlformats.org/drawingml/2006/main">
              <a:ext uri="{FF2B5EF4-FFF2-40B4-BE49-F238E27FC236}">
                <a16:creationId xmlns:a16="http://schemas.microsoft.com/office/drawing/2014/main" id="{C0D9DB5A-B62A-4387-9EA5-41F24063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AFAFA"/>
                </a:solidFill>
              </a:defRPr>
            </a:pPr>
            <a:r>
              <a:rPr sz="1425">
                <a:solidFill>
                  <a:srgbClr val="FAFAFA"/>
                </a:solidFill>
              </a:rPr>
              <a:t>Quiet confidence. Editorial, restrained, precise.</a:t>
            </a:r>
          </a:p>
        </p:txBody>
      </p:sp>
      <p:sp>
        <p:nvSpPr>
          <p:cNvPr id="15" name="brand-swatch-1">
            <a:extLst xmlns:a="http://schemas.openxmlformats.org/drawingml/2006/main">
              <a:ext uri="{FF2B5EF4-FFF2-40B4-BE49-F238E27FC236}">
                <a16:creationId xmlns:a16="http://schemas.microsoft.com/office/drawing/2014/main" id="{5E6DF190-F4A3-4470-B93F-63957E5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6" name="brand-swatch-2">
            <a:extLst xmlns:a="http://schemas.openxmlformats.org/drawingml/2006/main">
              <a:ext uri="{FF2B5EF4-FFF2-40B4-BE49-F238E27FC236}">
                <a16:creationId xmlns:a16="http://schemas.microsoft.com/office/drawing/2014/main" id="{8240B057-869E-4ABC-AAF8-1317D4B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7" name="brand-swatch-3">
            <a:extLst xmlns:a="http://schemas.openxmlformats.org/drawingml/2006/main">
              <a:ext uri="{FF2B5EF4-FFF2-40B4-BE49-F238E27FC236}">
                <a16:creationId xmlns:a16="http://schemas.microsoft.com/office/drawing/2014/main" id="{E4080B03-EC2F-4F6E-A4D9-ACC3C11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8" name="brand-swatch-4">
            <a:extLst xmlns:a="http://schemas.openxmlformats.org/drawingml/2006/main">
              <a:ext uri="{FF2B5EF4-FFF2-40B4-BE49-F238E27FC236}">
                <a16:creationId xmlns:a16="http://schemas.microsoft.com/office/drawing/2014/main" id="{17FD6B11-875D-46B1-9578-0BFEA35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9" name="brand-palette">
            <a:extLst xmlns:a="http://schemas.openxmlformats.org/drawingml/2006/main">
              <a:ext uri="{FF2B5EF4-FFF2-40B4-BE49-F238E27FC236}">
                <a16:creationId xmlns:a16="http://schemas.microsoft.com/office/drawing/2014/main" id="{7ADDC992-F9A2-4230-8463-BE05F89E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05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1A1AA"/>
                </a:solidFill>
              </a:defRPr>
            </a:pPr>
            <a:r>
              <a:rPr sz="1650">
                <a:solidFill>
                  <a:srgbClr val="A1A1AA"/>
                </a:solidFill>
              </a:rPr>
              <a:t>Dark Chrome: charcoal surfaces, orange timing signal, serif headlines, mono operational detail, 1px borders.</a:t>
            </a:r>
          </a:p>
        </p:txBody>
      </p:sp>
    </p:spTree>
    <p:extLst>
      <p:ext uri="{BB962C8B-B14F-4D97-AF65-F5344CB8AC3E}">
        <p14:creationId xmlns:p14="http://schemas.microsoft.com/office/powerpoint/2010/main" val="1655096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C4486D82-1740-4D30-B3C3-32745001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392878CA-AE67-47D3-9567-B9281C5C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7">
            <a:extLst xmlns:a="http://schemas.openxmlformats.org/drawingml/2006/main">
              <a:ext uri="{FF2B5EF4-FFF2-40B4-BE49-F238E27FC236}">
                <a16:creationId xmlns:a16="http://schemas.microsoft.com/office/drawing/2014/main" id="{4FAE97DC-BC63-433A-BF6A-01FD82E2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OFFER AND PRICING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41C19AD0-912A-4A89-B0A9-DA353737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Validate willingness to pay without punishing usage.</a:t>
            </a:r>
          </a:p>
        </p:txBody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4A02521D-0FC8-4102-9665-E58A7CD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07</a:t>
            </a:r>
          </a:p>
        </p:txBody>
      </p:sp>
      <p:sp>
        <p:nvSpPr>
          <p:cNvPr id="6" name="beta-price">
            <a:extLst xmlns:a="http://schemas.openxmlformats.org/drawingml/2006/main">
              <a:ext uri="{FF2B5EF4-FFF2-40B4-BE49-F238E27FC236}">
                <a16:creationId xmlns:a16="http://schemas.microsoft.com/office/drawing/2014/main" id="{4F2D049B-D54B-4F41-8BB8-08B4AAE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4400"/>
                </a:solidFill>
              </a:defRPr>
            </a:pPr>
            <a:r>
              <a:rPr sz="4050" b="1">
                <a:solidFill>
                  <a:srgbClr val="FF4400"/>
                </a:solidFill>
              </a:rPr>
              <a:t>$19/mo</a:t>
            </a:r>
          </a:p>
        </p:txBody>
      </p:sp>
      <p:sp>
        <p:nvSpPr>
          <p:cNvPr id="7" name="beta-copy">
            <a:extLst xmlns:a="http://schemas.openxmlformats.org/drawingml/2006/main">
              <a:ext uri="{FF2B5EF4-FFF2-40B4-BE49-F238E27FC236}">
                <a16:creationId xmlns:a16="http://schemas.microsoft.com/office/drawing/2014/main" id="{63F9EB8D-0A29-4829-8DF0-EF07D6FD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DE3D8"/>
                </a:solidFill>
              </a:defRPr>
            </a:pPr>
            <a:r>
              <a:rPr sz="1800">
                <a:solidFill>
                  <a:srgbClr val="EDE3D8"/>
                </a:solidFill>
              </a:rPr>
              <a:t>Founder Beta for the first 100 users, locked for 12 months. Include onboarding, scanner access, watched accounts, and fair-use caps.</a:t>
            </a:r>
          </a:p>
        </p:txBody>
      </p:sp>
      <p:sp>
        <p:nvSpPr>
          <p:cNvPr id="8" name="free-card">
            <a:extLst xmlns:a="http://schemas.openxmlformats.org/drawingml/2006/main">
              <a:ext uri="{FF2B5EF4-FFF2-40B4-BE49-F238E27FC236}">
                <a16:creationId xmlns:a16="http://schemas.microsoft.com/office/drawing/2014/main" id="{AA0A0AC1-598D-4CA7-BD92-B5CBE2CB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76450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" name="free-title">
            <a:extLst xmlns:a="http://schemas.openxmlformats.org/drawingml/2006/main">
              <a:ext uri="{FF2B5EF4-FFF2-40B4-BE49-F238E27FC236}">
                <a16:creationId xmlns:a16="http://schemas.microsoft.com/office/drawing/2014/main" id="{A457592B-265B-4BD0-99D5-1D5BAE5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86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Free</a:t>
            </a:r>
          </a:p>
        </p:txBody>
      </p:sp>
      <p:sp>
        <p:nvSpPr>
          <p:cNvPr id="10" name="free-body">
            <a:extLst xmlns:a="http://schemas.openxmlformats.org/drawingml/2006/main">
              <a:ext uri="{FF2B5EF4-FFF2-40B4-BE49-F238E27FC236}">
                <a16:creationId xmlns:a16="http://schemas.microsoft.com/office/drawing/2014/main" id="{714DC0B0-B92F-4D72-B3B3-BDF406B7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1352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3 analyses/day</a:t>
            </a:r>
          </a:p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1 voice profile</a:t>
            </a:r>
          </a:p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Manual URL analyze</a:t>
            </a:r>
          </a:p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No full scanner</a:t>
            </a:r>
          </a:p>
        </p:txBody>
      </p:sp>
      <p:sp>
        <p:nvSpPr>
          <p:cNvPr id="11" name="pro-card">
            <a:extLst xmlns:a="http://schemas.openxmlformats.org/drawingml/2006/main">
              <a:ext uri="{FF2B5EF4-FFF2-40B4-BE49-F238E27FC236}">
                <a16:creationId xmlns:a16="http://schemas.microsoft.com/office/drawing/2014/main" id="{86EC2D63-A48D-4654-8FA8-9646FDCE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30231C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" name="pro-bar">
            <a:extLst xmlns:a="http://schemas.openxmlformats.org/drawingml/2006/main">
              <a:ext uri="{FF2B5EF4-FFF2-40B4-BE49-F238E27FC236}">
                <a16:creationId xmlns:a16="http://schemas.microsoft.com/office/drawing/2014/main" id="{2C7BD775-DA47-4749-AA72-B3A97F4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3" name="pro-title">
            <a:extLst xmlns:a="http://schemas.openxmlformats.org/drawingml/2006/main">
              <a:ext uri="{FF2B5EF4-FFF2-40B4-BE49-F238E27FC236}">
                <a16:creationId xmlns:a16="http://schemas.microsoft.com/office/drawing/2014/main" id="{E6EA09E8-1712-425A-B497-935A3C8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86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E3D8"/>
                </a:solidFill>
              </a:defRPr>
            </a:pPr>
            <a:r>
              <a:rPr sz="1800" b="1">
                <a:solidFill>
                  <a:srgbClr val="EDE3D8"/>
                </a:solidFill>
              </a:rPr>
              <a:t>Pro</a:t>
            </a:r>
          </a:p>
        </p:txBody>
      </p:sp>
      <p:sp>
        <p:nvSpPr>
          <p:cNvPr id="14" name="pro-body">
            <a:extLst xmlns:a="http://schemas.openxmlformats.org/drawingml/2006/main">
              <a:ext uri="{FF2B5EF4-FFF2-40B4-BE49-F238E27FC236}">
                <a16:creationId xmlns:a16="http://schemas.microsoft.com/office/drawing/2014/main" id="{104DA056-4F91-4999-9C9E-B438D808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1352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$29/month</a:t>
            </a:r>
          </a:p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Scanner</a:t>
            </a:r>
          </a:p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Notifications</a:t>
            </a:r>
          </a:p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Reply analytics</a:t>
            </a:r>
          </a:p>
        </p:txBody>
      </p:sp>
      <p:sp>
        <p:nvSpPr>
          <p:cNvPr id="15" name="founder-card">
            <a:extLst xmlns:a="http://schemas.openxmlformats.org/drawingml/2006/main">
              <a:ext uri="{FF2B5EF4-FFF2-40B4-BE49-F238E27FC236}">
                <a16:creationId xmlns:a16="http://schemas.microsoft.com/office/drawing/2014/main" id="{340DAE6C-2E9F-4ED5-9815-96E137FD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6" name="founder-title">
            <a:extLst xmlns:a="http://schemas.openxmlformats.org/drawingml/2006/main">
              <a:ext uri="{FF2B5EF4-FFF2-40B4-BE49-F238E27FC236}">
                <a16:creationId xmlns:a16="http://schemas.microsoft.com/office/drawing/2014/main" id="{5BC197A3-CEEA-496E-A34F-6EB0E82C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Founder</a:t>
            </a:r>
          </a:p>
        </p:txBody>
      </p:sp>
      <p:sp>
        <p:nvSpPr>
          <p:cNvPr id="17" name="founder-body">
            <a:extLst xmlns:a="http://schemas.openxmlformats.org/drawingml/2006/main">
              <a:ext uri="{FF2B5EF4-FFF2-40B4-BE49-F238E27FC236}">
                <a16:creationId xmlns:a16="http://schemas.microsoft.com/office/drawing/2014/main" id="{1ECFA28B-B121-4256-B1DF-59939EA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352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$59/month</a:t>
            </a:r>
          </a:p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Priority cadence</a:t>
            </a:r>
          </a:p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Daily briefing</a:t>
            </a:r>
          </a:p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A/B variants</a:t>
            </a:r>
          </a:p>
        </p:txBody>
      </p:sp>
      <p:sp>
        <p:nvSpPr>
          <p:cNvPr id="18" name="pricing-risk">
            <a:extLst xmlns:a="http://schemas.openxmlformats.org/drawingml/2006/main">
              <a:ext uri="{FF2B5EF4-FFF2-40B4-BE49-F238E27FC236}">
                <a16:creationId xmlns:a16="http://schemas.microsoft.com/office/drawing/2014/main" id="{0FB9F177-B366-46FF-AC40-2D63F50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A1A1AA"/>
                </a:solidFill>
              </a:defRPr>
            </a:pPr>
            <a:r>
              <a:rPr sz="1725">
                <a:solidFill>
                  <a:srgbClr val="A1A1AA"/>
                </a:solidFill>
              </a:rPr>
              <a:t>Keep credits behind the scenes. Visible credits would make users hesitate before analyzing, which works against habit formation.</a:t>
            </a:r>
          </a:p>
        </p:txBody>
      </p:sp>
    </p:spTree>
    <p:extLst>
      <p:ext uri="{BB962C8B-B14F-4D97-AF65-F5344CB8AC3E}">
        <p14:creationId xmlns:p14="http://schemas.microsoft.com/office/powerpoint/2010/main" val="550597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43728741-A383-4ED1-BB7A-7F8F04B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6AA4CC71-9005-4D9F-8525-2FE21C4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8">
            <a:extLst xmlns:a="http://schemas.openxmlformats.org/drawingml/2006/main">
              <a:ext uri="{FF2B5EF4-FFF2-40B4-BE49-F238E27FC236}">
                <a16:creationId xmlns:a16="http://schemas.microsoft.com/office/drawing/2014/main" id="{ECFA87A9-0C7B-431A-8ED9-7F7742B1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LAUNCH MOTION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4B73403A-2FCD-4B1E-BC08-DEEC4BE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Launch through proof and founder-led distribution.</a:t>
            </a:r>
          </a:p>
        </p:txBody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63328C06-256C-49EE-B9A1-ED1E174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08</a:t>
            </a:r>
          </a:p>
        </p:txBody>
      </p:sp>
      <p:sp>
        <p:nvSpPr>
          <p:cNvPr id="6" name="launch-node-0">
            <a:extLst xmlns:a="http://schemas.openxmlformats.org/drawingml/2006/main">
              <a:ext uri="{FF2B5EF4-FFF2-40B4-BE49-F238E27FC236}">
                <a16:creationId xmlns:a16="http://schemas.microsoft.com/office/drawing/2014/main" id="{1B4F8CB4-1519-4E24-A7AB-D37BF84E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7" name="launch-phase-0">
            <a:extLst xmlns:a="http://schemas.openxmlformats.org/drawingml/2006/main">
              <a:ext uri="{FF2B5EF4-FFF2-40B4-BE49-F238E27FC236}">
                <a16:creationId xmlns:a16="http://schemas.microsoft.com/office/drawing/2014/main" id="{2153986F-3321-4119-A90C-B8B91F77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PHASE 1</a:t>
            </a:r>
          </a:p>
        </p:txBody>
      </p:sp>
      <p:sp>
        <p:nvSpPr>
          <p:cNvPr id="8" name="launch-title-0">
            <a:extLst xmlns:a="http://schemas.openxmlformats.org/drawingml/2006/main">
              <a:ext uri="{FF2B5EF4-FFF2-40B4-BE49-F238E27FC236}">
                <a16:creationId xmlns:a16="http://schemas.microsoft.com/office/drawing/2014/main" id="{A2CCAA7F-89EE-445A-B639-94F78B7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Private proof</a:t>
            </a:r>
          </a:p>
        </p:txBody>
      </p:sp>
      <p:sp>
        <p:nvSpPr>
          <p:cNvPr id="9" name="launch-body-0">
            <a:extLst xmlns:a="http://schemas.openxmlformats.org/drawingml/2006/main">
              <a:ext uri="{FF2B5EF4-FFF2-40B4-BE49-F238E27FC236}">
                <a16:creationId xmlns:a16="http://schemas.microsoft.com/office/drawing/2014/main" id="{7B6A06A0-A332-4343-AD05-1CFEB998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10 design partners. Five reply sessions each. Validate timing and angle quality.</a:t>
            </a:r>
          </a:p>
        </p:txBody>
      </p:sp>
      <p:sp>
        <p:nvSpPr>
          <p:cNvPr id="10" name="launch-line-1">
            <a:extLst xmlns:a="http://schemas.openxmlformats.org/drawingml/2006/main">
              <a:ext uri="{FF2B5EF4-FFF2-40B4-BE49-F238E27FC236}">
                <a16:creationId xmlns:a16="http://schemas.microsoft.com/office/drawing/2014/main" id="{B2DD6251-6E2D-4521-AA75-789DBC0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1" name="launch-node-1">
            <a:extLst xmlns:a="http://schemas.openxmlformats.org/drawingml/2006/main">
              <a:ext uri="{FF2B5EF4-FFF2-40B4-BE49-F238E27FC236}">
                <a16:creationId xmlns:a16="http://schemas.microsoft.com/office/drawing/2014/main" id="{9DC4F40A-C6EF-4ACB-B7B2-A9B3EA0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2" name="launch-phase-1">
            <a:extLst xmlns:a="http://schemas.openxmlformats.org/drawingml/2006/main">
              <a:ext uri="{FF2B5EF4-FFF2-40B4-BE49-F238E27FC236}">
                <a16:creationId xmlns:a16="http://schemas.microsoft.com/office/drawing/2014/main" id="{C3F4A8CD-5A39-4D33-A137-D9F91D3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PHASE 2</a:t>
            </a:r>
          </a:p>
        </p:txBody>
      </p:sp>
      <p:sp>
        <p:nvSpPr>
          <p:cNvPr id="13" name="launch-title-1">
            <a:extLst xmlns:a="http://schemas.openxmlformats.org/drawingml/2006/main">
              <a:ext uri="{FF2B5EF4-FFF2-40B4-BE49-F238E27FC236}">
                <a16:creationId xmlns:a16="http://schemas.microsoft.com/office/drawing/2014/main" id="{F4AF7B37-1B04-4477-BCDC-7AED0CA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Paid beta</a:t>
            </a:r>
          </a:p>
        </p:txBody>
      </p:sp>
      <p:sp>
        <p:nvSpPr>
          <p:cNvPr id="14" name="launch-body-1">
            <a:extLst xmlns:a="http://schemas.openxmlformats.org/drawingml/2006/main">
              <a:ext uri="{FF2B5EF4-FFF2-40B4-BE49-F238E27FC236}">
                <a16:creationId xmlns:a16="http://schemas.microsoft.com/office/drawing/2014/main" id="{569B7F5C-7F28-4104-814A-3536B75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50 invited users. Charge after trial. Create one reply-win case study weekly.</a:t>
            </a:r>
          </a:p>
        </p:txBody>
      </p:sp>
      <p:sp>
        <p:nvSpPr>
          <p:cNvPr id="15" name="launch-line-2">
            <a:extLst xmlns:a="http://schemas.openxmlformats.org/drawingml/2006/main">
              <a:ext uri="{FF2B5EF4-FFF2-40B4-BE49-F238E27FC236}">
                <a16:creationId xmlns:a16="http://schemas.microsoft.com/office/drawing/2014/main" id="{348A2553-DB9B-49C6-B586-1A4494B6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6" name="launch-node-2">
            <a:extLst xmlns:a="http://schemas.openxmlformats.org/drawingml/2006/main">
              <a:ext uri="{FF2B5EF4-FFF2-40B4-BE49-F238E27FC236}">
                <a16:creationId xmlns:a16="http://schemas.microsoft.com/office/drawing/2014/main" id="{CA8E9652-E65F-44CA-AD23-77861D0A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7" name="launch-phase-2">
            <a:extLst xmlns:a="http://schemas.openxmlformats.org/drawingml/2006/main">
              <a:ext uri="{FF2B5EF4-FFF2-40B4-BE49-F238E27FC236}">
                <a16:creationId xmlns:a16="http://schemas.microsoft.com/office/drawing/2014/main" id="{DE042ACE-D3DE-4A2F-9C02-E6A5AE1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PHASE 3</a:t>
            </a:r>
          </a:p>
        </p:txBody>
      </p:sp>
      <p:sp>
        <p:nvSpPr>
          <p:cNvPr id="18" name="launch-title-2">
            <a:extLst xmlns:a="http://schemas.openxmlformats.org/drawingml/2006/main">
              <a:ext uri="{FF2B5EF4-FFF2-40B4-BE49-F238E27FC236}">
                <a16:creationId xmlns:a16="http://schemas.microsoft.com/office/drawing/2014/main" id="{4EF4A125-B9C3-4BC3-8F63-F2DC8CA1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Public launch</a:t>
            </a:r>
          </a:p>
        </p:txBody>
      </p:sp>
      <p:sp>
        <p:nvSpPr>
          <p:cNvPr id="19" name="launch-body-2">
            <a:extLst xmlns:a="http://schemas.openxmlformats.org/drawingml/2006/main">
              <a:ext uri="{FF2B5EF4-FFF2-40B4-BE49-F238E27FC236}">
                <a16:creationId xmlns:a16="http://schemas.microsoft.com/office/drawing/2014/main" id="{E62D83CB-A7A0-4879-9AF3-09F5D3DB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X launch first. Product Hunt after proof. Founder pricing for first 100.</a:t>
            </a:r>
          </a:p>
        </p:txBody>
      </p:sp>
      <p:sp>
        <p:nvSpPr>
          <p:cNvPr id="20" name="launch-line-3">
            <a:extLst xmlns:a="http://schemas.openxmlformats.org/drawingml/2006/main">
              <a:ext uri="{FF2B5EF4-FFF2-40B4-BE49-F238E27FC236}">
                <a16:creationId xmlns:a16="http://schemas.microsoft.com/office/drawing/2014/main" id="{427364C0-E8F8-46B9-B3BA-EA759F0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21" name="launch-node-3">
            <a:extLst xmlns:a="http://schemas.openxmlformats.org/drawingml/2006/main">
              <a:ext uri="{FF2B5EF4-FFF2-40B4-BE49-F238E27FC236}">
                <a16:creationId xmlns:a16="http://schemas.microsoft.com/office/drawing/2014/main" id="{32187CA5-644C-4DE4-96B4-5A1CEEC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22" name="launch-phase-3">
            <a:extLst xmlns:a="http://schemas.openxmlformats.org/drawingml/2006/main">
              <a:ext uri="{FF2B5EF4-FFF2-40B4-BE49-F238E27FC236}">
                <a16:creationId xmlns:a16="http://schemas.microsoft.com/office/drawing/2014/main" id="{7AF46DC1-97CC-457B-8800-A214D94D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PHASE 4</a:t>
            </a:r>
          </a:p>
        </p:txBody>
      </p:sp>
      <p:sp>
        <p:nvSpPr>
          <p:cNvPr id="23" name="launch-title-3">
            <a:extLst xmlns:a="http://schemas.openxmlformats.org/drawingml/2006/main">
              <a:ext uri="{FF2B5EF4-FFF2-40B4-BE49-F238E27FC236}">
                <a16:creationId xmlns:a16="http://schemas.microsoft.com/office/drawing/2014/main" id="{B5D32C8F-CB64-4C91-B9E5-FC1E533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Referral habit</a:t>
            </a:r>
          </a:p>
        </p:txBody>
      </p:sp>
      <p:sp>
        <p:nvSpPr>
          <p:cNvPr id="24" name="launch-body-3">
            <a:extLst xmlns:a="http://schemas.openxmlformats.org/drawingml/2006/main">
              <a:ext uri="{FF2B5EF4-FFF2-40B4-BE49-F238E27FC236}">
                <a16:creationId xmlns:a16="http://schemas.microsoft.com/office/drawing/2014/main" id="{896C03DA-A27E-4239-94E6-EB3937B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Prompt referrals after five useful replies. Share sanitized wins.</a:t>
            </a:r>
          </a:p>
        </p:txBody>
      </p:sp>
    </p:spTree>
    <p:extLst>
      <p:ext uri="{BB962C8B-B14F-4D97-AF65-F5344CB8AC3E}">
        <p14:creationId xmlns:p14="http://schemas.microsoft.com/office/powerpoint/2010/main" val="917377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DA65D012-5152-46A2-92F5-80605E19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56175369-3C9C-45A2-87CD-5B5F39D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9">
            <a:extLst xmlns:a="http://schemas.openxmlformats.org/drawingml/2006/main">
              <a:ext uri="{FF2B5EF4-FFF2-40B4-BE49-F238E27FC236}">
                <a16:creationId xmlns:a16="http://schemas.microsoft.com/office/drawing/2014/main" id="{C4C90810-CCBA-4D88-8A06-2530525E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CHANNELS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4E82A6DD-2A93-44BA-B110-A8AEE792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The main channel is the same network the product improves.</a:t>
            </a:r>
          </a:p>
        </p:txBody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1A3ED9FE-3111-4899-B6F6-8718A46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09</a:t>
            </a:r>
          </a:p>
        </p:txBody>
      </p:sp>
      <p:sp>
        <p:nvSpPr>
          <p:cNvPr id="6" name="channel-x-card">
            <a:extLst xmlns:a="http://schemas.openxmlformats.org/drawingml/2006/main">
              <a:ext uri="{FF2B5EF4-FFF2-40B4-BE49-F238E27FC236}">
                <a16:creationId xmlns:a16="http://schemas.microsoft.com/office/drawing/2014/main" id="{4C1B11E2-0A58-474C-A860-EDEFEAF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30231C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" name="channel-x-bar">
            <a:extLst xmlns:a="http://schemas.openxmlformats.org/drawingml/2006/main">
              <a:ext uri="{FF2B5EF4-FFF2-40B4-BE49-F238E27FC236}">
                <a16:creationId xmlns:a16="http://schemas.microsoft.com/office/drawing/2014/main" id="{C1AF9C29-E140-4601-99DD-BBFA7CF9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8" name="channel-x-title">
            <a:extLst xmlns:a="http://schemas.openxmlformats.org/drawingml/2006/main">
              <a:ext uri="{FF2B5EF4-FFF2-40B4-BE49-F238E27FC236}">
                <a16:creationId xmlns:a16="http://schemas.microsoft.com/office/drawing/2014/main" id="{D2984550-1682-4ECA-AD2B-20249A8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E3D8"/>
                </a:solidFill>
              </a:defRPr>
            </a:pPr>
            <a:r>
              <a:rPr sz="1800" b="1">
                <a:solidFill>
                  <a:srgbClr val="EDE3D8"/>
                </a:solidFill>
              </a:rPr>
              <a:t>X founder content</a:t>
            </a:r>
          </a:p>
        </p:txBody>
      </p:sp>
      <p:sp>
        <p:nvSpPr>
          <p:cNvPr id="9" name="channel-x-body">
            <a:extLst xmlns:a="http://schemas.openxmlformats.org/drawingml/2006/main">
              <a:ext uri="{FF2B5EF4-FFF2-40B4-BE49-F238E27FC236}">
                <a16:creationId xmlns:a16="http://schemas.microsoft.com/office/drawing/2014/main" id="{24F5A912-E478-4BF2-AB31-B8014F3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C8B8"/>
                </a:solidFill>
              </a:defRPr>
            </a:pPr>
            <a:r>
              <a:rPr sz="1275">
                <a:solidFill>
                  <a:srgbClr val="D9C8B8"/>
                </a:solidFill>
              </a:rPr>
              <a:t>Weekly reply teardowns, build-in-public posts, customer proof, and 10-20 thoughtful founder replies per day.</a:t>
            </a:r>
          </a:p>
        </p:txBody>
      </p:sp>
      <p:sp>
        <p:nvSpPr>
          <p:cNvPr id="10" name="channel-outreach-card">
            <a:extLst xmlns:a="http://schemas.openxmlformats.org/drawingml/2006/main">
              <a:ext uri="{FF2B5EF4-FFF2-40B4-BE49-F238E27FC236}">
                <a16:creationId xmlns:a16="http://schemas.microsoft.com/office/drawing/2014/main" id="{AD707402-8D08-41B5-BCAC-A38014F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1" name="channel-outreach-title">
            <a:extLst xmlns:a="http://schemas.openxmlformats.org/drawingml/2006/main">
              <a:ext uri="{FF2B5EF4-FFF2-40B4-BE49-F238E27FC236}">
                <a16:creationId xmlns:a16="http://schemas.microsoft.com/office/drawing/2014/main" id="{268D8D08-A1B2-4105-B5B2-EBABB4D7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Direct outreach</a:t>
            </a:r>
          </a:p>
        </p:txBody>
      </p:sp>
      <p:sp>
        <p:nvSpPr>
          <p:cNvPr id="12" name="channel-outreach-body">
            <a:extLst xmlns:a="http://schemas.openxmlformats.org/drawingml/2006/main">
              <a:ext uri="{FF2B5EF4-FFF2-40B4-BE49-F238E27FC236}">
                <a16:creationId xmlns:a16="http://schemas.microsoft.com/office/drawing/2014/main" id="{DB4DBD1D-E26C-44B1-B4C4-C146D3E1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Manual, niche-specific messages to active founders already posting about AI, SaaS, devtools, and building in public.</a:t>
            </a:r>
          </a:p>
        </p:txBody>
      </p:sp>
      <p:sp>
        <p:nvSpPr>
          <p:cNvPr id="13" name="channel-partners-card">
            <a:extLst xmlns:a="http://schemas.openxmlformats.org/drawingml/2006/main">
              <a:ext uri="{FF2B5EF4-FFF2-40B4-BE49-F238E27FC236}">
                <a16:creationId xmlns:a16="http://schemas.microsoft.com/office/drawing/2014/main" id="{0A624F7F-235B-4479-A31B-7596351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4" name="channel-partners-title">
            <a:extLst xmlns:a="http://schemas.openxmlformats.org/drawingml/2006/main">
              <a:ext uri="{FF2B5EF4-FFF2-40B4-BE49-F238E27FC236}">
                <a16:creationId xmlns:a16="http://schemas.microsoft.com/office/drawing/2014/main" id="{A5E53868-7941-4C6F-934A-8DC1D6C3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FAFA"/>
                </a:solidFill>
              </a:defRPr>
            </a:pPr>
            <a:r>
              <a:rPr sz="1800" b="1">
                <a:solidFill>
                  <a:srgbClr val="FAFAFA"/>
                </a:solidFill>
              </a:rPr>
              <a:t>Community partners</a:t>
            </a:r>
          </a:p>
        </p:txBody>
      </p:sp>
      <p:sp>
        <p:nvSpPr>
          <p:cNvPr id="15" name="channel-partners-body">
            <a:extLst xmlns:a="http://schemas.openxmlformats.org/drawingml/2006/main">
              <a:ext uri="{FF2B5EF4-FFF2-40B4-BE49-F238E27FC236}">
                <a16:creationId xmlns:a16="http://schemas.microsoft.com/office/drawing/2014/main" id="{C62642E9-364C-4C1C-AD6E-8E67658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Low-cost workshops, reply sprints, and co-branded teardown reports for founder communities.</a:t>
            </a:r>
          </a:p>
        </p:txBody>
      </p:sp>
      <p:sp>
        <p:nvSpPr>
          <p:cNvPr id="16" name="channel-rule">
            <a:extLst xmlns:a="http://schemas.openxmlformats.org/drawingml/2006/main">
              <a:ext uri="{FF2B5EF4-FFF2-40B4-BE49-F238E27FC236}">
                <a16:creationId xmlns:a16="http://schemas.microsoft.com/office/drawing/2014/main" id="{0B8A4BD4-39DD-4014-B1E6-F708D92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DE3D8"/>
                </a:solidFill>
              </a:defRPr>
            </a:pPr>
            <a:r>
              <a:rPr sz="2100">
                <a:solidFill>
                  <a:srgbClr val="EDE3D8"/>
                </a:solidFill>
              </a:rPr>
              <a:t>Avoid paid ads until retention is proven.</a:t>
            </a:r>
          </a:p>
        </p:txBody>
      </p:sp>
    </p:spTree>
    <p:extLst>
      <p:ext uri="{BB962C8B-B14F-4D97-AF65-F5344CB8AC3E}">
        <p14:creationId xmlns:p14="http://schemas.microsoft.com/office/powerpoint/2010/main" val="900665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B27340D1-A32A-4708-BA85-49779A62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ACDEE078-4EA6-49A3-B88C-980F3C2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10">
            <a:extLst xmlns:a="http://schemas.openxmlformats.org/drawingml/2006/main">
              <a:ext uri="{FF2B5EF4-FFF2-40B4-BE49-F238E27FC236}">
                <a16:creationId xmlns:a16="http://schemas.microsoft.com/office/drawing/2014/main" id="{DDE86E62-1DD8-4409-9DF8-24E27BC2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SOLO FOUNDER CADENCE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93034D47-4821-42B8-9972-8952770D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Keep the operating system small enough to repeat every week.</a:t>
            </a:r>
          </a:p>
        </p:txBody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A1CDDA8B-7125-4D93-B1FA-DA108732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10</a:t>
            </a:r>
          </a:p>
        </p:txBody>
      </p:sp>
      <p:sp>
        <p:nvSpPr>
          <p:cNvPr id="6" name="m1-value">
            <a:extLst xmlns:a="http://schemas.openxmlformats.org/drawingml/2006/main">
              <a:ext uri="{FF2B5EF4-FFF2-40B4-BE49-F238E27FC236}">
                <a16:creationId xmlns:a16="http://schemas.microsoft.com/office/drawing/2014/main" id="{EF49FBDC-EC6E-4B0C-B860-1F8803A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400"/>
                </a:solidFill>
              </a:defRPr>
            </a:pPr>
            <a:r>
              <a:rPr sz="2850" b="1">
                <a:solidFill>
                  <a:srgbClr val="FF4400"/>
                </a:solidFill>
              </a:rPr>
              <a:t>20m</a:t>
            </a:r>
          </a:p>
        </p:txBody>
      </p:sp>
      <p:sp>
        <p:nvSpPr>
          <p:cNvPr id="7" name="m1-label">
            <a:extLst xmlns:a="http://schemas.openxmlformats.org/drawingml/2006/main">
              <a:ext uri="{FF2B5EF4-FFF2-40B4-BE49-F238E27FC236}">
                <a16:creationId xmlns:a16="http://schemas.microsoft.com/office/drawing/2014/main" id="{603BADC4-E32E-45B8-81C4-B086D8E5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Use ReplyPilot on the founder account every day.</a:t>
            </a:r>
          </a:p>
        </p:txBody>
      </p:sp>
      <p:sp>
        <p:nvSpPr>
          <p:cNvPr id="8" name="m2-value">
            <a:extLst xmlns:a="http://schemas.openxmlformats.org/drawingml/2006/main">
              <a:ext uri="{FF2B5EF4-FFF2-40B4-BE49-F238E27FC236}">
                <a16:creationId xmlns:a16="http://schemas.microsoft.com/office/drawing/2014/main" id="{288C771E-787A-46B9-A4B8-157DCEE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400"/>
                </a:solidFill>
              </a:defRPr>
            </a:pPr>
            <a:r>
              <a:rPr sz="2850" b="1">
                <a:solidFill>
                  <a:srgbClr val="FF4400"/>
                </a:solidFill>
              </a:rPr>
              <a:t>5</a:t>
            </a:r>
          </a:p>
        </p:txBody>
      </p:sp>
      <p:sp>
        <p:nvSpPr>
          <p:cNvPr id="9" name="m2-label">
            <a:extLst xmlns:a="http://schemas.openxmlformats.org/drawingml/2006/main">
              <a:ext uri="{FF2B5EF4-FFF2-40B4-BE49-F238E27FC236}">
                <a16:creationId xmlns:a16="http://schemas.microsoft.com/office/drawing/2014/main" id="{2B60CB63-7E61-4480-9A38-D068D1B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Manual qualified prospect messages per day.</a:t>
            </a:r>
          </a:p>
        </p:txBody>
      </p:sp>
      <p:sp>
        <p:nvSpPr>
          <p:cNvPr id="10" name="m3-value">
            <a:extLst xmlns:a="http://schemas.openxmlformats.org/drawingml/2006/main">
              <a:ext uri="{FF2B5EF4-FFF2-40B4-BE49-F238E27FC236}">
                <a16:creationId xmlns:a16="http://schemas.microsoft.com/office/drawing/2014/main" id="{A67FD3FF-6780-42DC-835B-BF7B8490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90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400"/>
                </a:solidFill>
              </a:defRPr>
            </a:pPr>
            <a:r>
              <a:rPr sz="2850" b="1">
                <a:solidFill>
                  <a:srgbClr val="FF4400"/>
                </a:solidFill>
              </a:rPr>
              <a:t>1</a:t>
            </a:r>
          </a:p>
        </p:txBody>
      </p:sp>
      <p:sp>
        <p:nvSpPr>
          <p:cNvPr id="11" name="m3-label">
            <a:extLst xmlns:a="http://schemas.openxmlformats.org/drawingml/2006/main">
              <a:ext uri="{FF2B5EF4-FFF2-40B4-BE49-F238E27FC236}">
                <a16:creationId xmlns:a16="http://schemas.microsoft.com/office/drawing/2014/main" id="{454092A8-22E7-4557-B92B-9369448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User call, session review, or proof example per day.</a:t>
            </a:r>
          </a:p>
        </p:txBody>
      </p:sp>
      <p:sp>
        <p:nvSpPr>
          <p:cNvPr id="12" name="m4-value">
            <a:extLst xmlns:a="http://schemas.openxmlformats.org/drawingml/2006/main">
              <a:ext uri="{FF2B5EF4-FFF2-40B4-BE49-F238E27FC236}">
                <a16:creationId xmlns:a16="http://schemas.microsoft.com/office/drawing/2014/main" id="{A5EC485B-1439-4C2F-81AF-A2A5A700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400"/>
                </a:solidFill>
              </a:defRPr>
            </a:pPr>
            <a:r>
              <a:rPr sz="2850" b="1">
                <a:solidFill>
                  <a:srgbClr val="FF4400"/>
                </a:solidFill>
              </a:rPr>
              <a:t>$500</a:t>
            </a:r>
          </a:p>
        </p:txBody>
      </p:sp>
      <p:sp>
        <p:nvSpPr>
          <p:cNvPr id="13" name="m4-label">
            <a:extLst xmlns:a="http://schemas.openxmlformats.org/drawingml/2006/main">
              <a:ext uri="{FF2B5EF4-FFF2-40B4-BE49-F238E27FC236}">
                <a16:creationId xmlns:a16="http://schemas.microsoft.com/office/drawing/2014/main" id="{AB64A57E-1B5F-4EBA-B0DF-7A1C874E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Monthly cash ceiling until retention is proven.</a:t>
            </a:r>
          </a:p>
        </p:txBody>
      </p:sp>
      <p:sp>
        <p:nvSpPr>
          <p:cNvPr id="14" name="cadence-band">
            <a:extLst xmlns:a="http://schemas.openxmlformats.org/drawingml/2006/main">
              <a:ext uri="{FF2B5EF4-FFF2-40B4-BE49-F238E27FC236}">
                <a16:creationId xmlns:a16="http://schemas.microsoft.com/office/drawing/2014/main" id="{2B097493-BC8F-425F-AC51-0F993FA7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929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5" name="cadence-text">
            <a:extLst xmlns:a="http://schemas.openxmlformats.org/drawingml/2006/main">
              <a:ext uri="{FF2B5EF4-FFF2-40B4-BE49-F238E27FC236}">
                <a16:creationId xmlns:a16="http://schemas.microsoft.com/office/drawing/2014/main" id="{A809A33E-C56D-4067-A68D-62772E2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DE3D8"/>
                </a:solidFill>
              </a:defRPr>
            </a:pPr>
            <a:r>
              <a:rPr sz="1800">
                <a:solidFill>
                  <a:srgbClr val="EDE3D8"/>
                </a:solidFill>
              </a:rPr>
              <a:t>Monday metrics, Tuesday onboarding, Wednesday product friction, Thursday teardown post, Friday follow-ups and referrals.</a:t>
            </a:r>
          </a:p>
        </p:txBody>
      </p:sp>
    </p:spTree>
    <p:extLst>
      <p:ext uri="{BB962C8B-B14F-4D97-AF65-F5344CB8AC3E}">
        <p14:creationId xmlns:p14="http://schemas.microsoft.com/office/powerpoint/2010/main" val="10740906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55592679-1D44-4482-A7CE-F3E4C168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39C339BE-6941-4F91-856B-F5915FCE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11">
            <a:extLst xmlns:a="http://schemas.openxmlformats.org/drawingml/2006/main">
              <a:ext uri="{FF2B5EF4-FFF2-40B4-BE49-F238E27FC236}">
                <a16:creationId xmlns:a16="http://schemas.microsoft.com/office/drawing/2014/main" id="{1BA7326E-BD06-4F43-935D-687B1660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90-DAY PLAN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49E4B2C9-62D4-4A2E-95CD-515F5F7D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Use 90 days to prove missed reply moments.</a:t>
            </a:r>
          </a:p>
        </p:txBody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7E50607E-90B9-4129-AFFD-C07B0096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11</a:t>
            </a:r>
          </a:p>
        </p:txBody>
      </p:sp>
      <p:sp>
        <p:nvSpPr>
          <p:cNvPr id="6" name="days-node-0">
            <a:extLst xmlns:a="http://schemas.openxmlformats.org/drawingml/2006/main">
              <a:ext uri="{FF2B5EF4-FFF2-40B4-BE49-F238E27FC236}">
                <a16:creationId xmlns:a16="http://schemas.microsoft.com/office/drawing/2014/main" id="{78A91CD3-3403-4D9C-B003-B191A79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7" name="days-phase-0">
            <a:extLst xmlns:a="http://schemas.openxmlformats.org/drawingml/2006/main">
              <a:ext uri="{FF2B5EF4-FFF2-40B4-BE49-F238E27FC236}">
                <a16:creationId xmlns:a16="http://schemas.microsoft.com/office/drawing/2014/main" id="{8EF2B9A5-F811-408C-A938-CD251E0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DAYS 1-14</a:t>
            </a:r>
          </a:p>
        </p:txBody>
      </p:sp>
      <p:sp>
        <p:nvSpPr>
          <p:cNvPr id="8" name="days-title-0">
            <a:extLst xmlns:a="http://schemas.openxmlformats.org/drawingml/2006/main">
              <a:ext uri="{FF2B5EF4-FFF2-40B4-BE49-F238E27FC236}">
                <a16:creationId xmlns:a16="http://schemas.microsoft.com/office/drawing/2014/main" id="{68947921-F094-4D77-A42A-31E01295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Proof setup</a:t>
            </a:r>
          </a:p>
        </p:txBody>
      </p:sp>
      <p:sp>
        <p:nvSpPr>
          <p:cNvPr id="9" name="days-body-0">
            <a:extLst xmlns:a="http://schemas.openxmlformats.org/drawingml/2006/main">
              <a:ext uri="{FF2B5EF4-FFF2-40B4-BE49-F238E27FC236}">
                <a16:creationId xmlns:a16="http://schemas.microsoft.com/office/drawing/2014/main" id="{1573F661-E888-4CC4-9C49-BBA09298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Waitlist page, onboarding script, first 10 users, and 3 proof examples.</a:t>
            </a:r>
          </a:p>
        </p:txBody>
      </p:sp>
      <p:sp>
        <p:nvSpPr>
          <p:cNvPr id="10" name="days-line-1">
            <a:extLst xmlns:a="http://schemas.openxmlformats.org/drawingml/2006/main">
              <a:ext uri="{FF2B5EF4-FFF2-40B4-BE49-F238E27FC236}">
                <a16:creationId xmlns:a16="http://schemas.microsoft.com/office/drawing/2014/main" id="{918C2725-54D9-4BE3-AF37-8CB177B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1" name="days-node-1">
            <a:extLst xmlns:a="http://schemas.openxmlformats.org/drawingml/2006/main">
              <a:ext uri="{FF2B5EF4-FFF2-40B4-BE49-F238E27FC236}">
                <a16:creationId xmlns:a16="http://schemas.microsoft.com/office/drawing/2014/main" id="{88332A11-4C1F-499D-B7F1-1BCEC52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90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2" name="days-phase-1">
            <a:extLst xmlns:a="http://schemas.openxmlformats.org/drawingml/2006/main">
              <a:ext uri="{FF2B5EF4-FFF2-40B4-BE49-F238E27FC236}">
                <a16:creationId xmlns:a16="http://schemas.microsoft.com/office/drawing/2014/main" id="{B9530289-99A8-4F65-888B-D42AFB19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DAYS 15-45</a:t>
            </a:r>
          </a:p>
        </p:txBody>
      </p:sp>
      <p:sp>
        <p:nvSpPr>
          <p:cNvPr id="13" name="days-title-1">
            <a:extLst xmlns:a="http://schemas.openxmlformats.org/drawingml/2006/main">
              <a:ext uri="{FF2B5EF4-FFF2-40B4-BE49-F238E27FC236}">
                <a16:creationId xmlns:a16="http://schemas.microsoft.com/office/drawing/2014/main" id="{694FAEAE-E31A-4CDF-A4D7-C2CE88E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52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Paid beta</a:t>
            </a:r>
          </a:p>
        </p:txBody>
      </p:sp>
      <p:sp>
        <p:nvSpPr>
          <p:cNvPr id="14" name="days-body-1">
            <a:extLst xmlns:a="http://schemas.openxmlformats.org/drawingml/2006/main">
              <a:ext uri="{FF2B5EF4-FFF2-40B4-BE49-F238E27FC236}">
                <a16:creationId xmlns:a16="http://schemas.microsoft.com/office/drawing/2014/main" id="{08695F6F-3CC0-4819-B0B5-3A0D82F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528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Invite 50 users, charge after trial, collect proof, tighten first value.</a:t>
            </a:r>
          </a:p>
        </p:txBody>
      </p:sp>
      <p:sp>
        <p:nvSpPr>
          <p:cNvPr id="15" name="days-line-2">
            <a:extLst xmlns:a="http://schemas.openxmlformats.org/drawingml/2006/main">
              <a:ext uri="{FF2B5EF4-FFF2-40B4-BE49-F238E27FC236}">
                <a16:creationId xmlns:a16="http://schemas.microsoft.com/office/drawing/2014/main" id="{EA3F8701-060E-40B8-815F-868AA41A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6" name="days-node-2">
            <a:extLst xmlns:a="http://schemas.openxmlformats.org/drawingml/2006/main">
              <a:ext uri="{FF2B5EF4-FFF2-40B4-BE49-F238E27FC236}">
                <a16:creationId xmlns:a16="http://schemas.microsoft.com/office/drawing/2014/main" id="{A9A6E72A-6EE2-410C-865A-E99AC19C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90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7" name="days-phase-2">
            <a:extLst xmlns:a="http://schemas.openxmlformats.org/drawingml/2006/main">
              <a:ext uri="{FF2B5EF4-FFF2-40B4-BE49-F238E27FC236}">
                <a16:creationId xmlns:a16="http://schemas.microsoft.com/office/drawing/2014/main" id="{7E67B7AE-5F43-4B85-859E-722B4DBB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DAYS 46-75</a:t>
            </a:r>
          </a:p>
        </p:txBody>
      </p:sp>
      <p:sp>
        <p:nvSpPr>
          <p:cNvPr id="18" name="days-title-2">
            <a:extLst xmlns:a="http://schemas.openxmlformats.org/drawingml/2006/main">
              <a:ext uri="{FF2B5EF4-FFF2-40B4-BE49-F238E27FC236}">
                <a16:creationId xmlns:a16="http://schemas.microsoft.com/office/drawing/2014/main" id="{6802C196-7FCF-4B14-B266-F5D201A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52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Launch prep</a:t>
            </a:r>
          </a:p>
        </p:txBody>
      </p:sp>
      <p:sp>
        <p:nvSpPr>
          <p:cNvPr id="19" name="days-body-2">
            <a:extLst xmlns:a="http://schemas.openxmlformats.org/drawingml/2006/main">
              <a:ext uri="{FF2B5EF4-FFF2-40B4-BE49-F238E27FC236}">
                <a16:creationId xmlns:a16="http://schemas.microsoft.com/office/drawing/2014/main" id="{31F995CF-8E09-438E-B800-B7FC74B2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528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Screenshots, demo clips, comparison pages, FAQ, and launch thread.</a:t>
            </a:r>
          </a:p>
        </p:txBody>
      </p:sp>
      <p:sp>
        <p:nvSpPr>
          <p:cNvPr id="20" name="days-line-3">
            <a:extLst xmlns:a="http://schemas.openxmlformats.org/drawingml/2006/main">
              <a:ext uri="{FF2B5EF4-FFF2-40B4-BE49-F238E27FC236}">
                <a16:creationId xmlns:a16="http://schemas.microsoft.com/office/drawing/2014/main" id="{2F1C1C52-B9F8-414D-8317-79E7714C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21" name="days-node-3">
            <a:extLst xmlns:a="http://schemas.openxmlformats.org/drawingml/2006/main">
              <a:ext uri="{FF2B5EF4-FFF2-40B4-BE49-F238E27FC236}">
                <a16:creationId xmlns:a16="http://schemas.microsoft.com/office/drawing/2014/main" id="{65110707-03D8-4585-BED8-71914F4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22" name="days-phase-3">
            <a:extLst xmlns:a="http://schemas.openxmlformats.org/drawingml/2006/main">
              <a:ext uri="{FF2B5EF4-FFF2-40B4-BE49-F238E27FC236}">
                <a16:creationId xmlns:a16="http://schemas.microsoft.com/office/drawing/2014/main" id="{8551A30B-C314-46CC-9D91-99F677A5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DAYS 76-90</a:t>
            </a:r>
          </a:p>
        </p:txBody>
      </p:sp>
      <p:sp>
        <p:nvSpPr>
          <p:cNvPr id="23" name="days-title-3">
            <a:extLst xmlns:a="http://schemas.openxmlformats.org/drawingml/2006/main">
              <a:ext uri="{FF2B5EF4-FFF2-40B4-BE49-F238E27FC236}">
                <a16:creationId xmlns:a16="http://schemas.microsoft.com/office/drawing/2014/main" id="{347C44FA-53FB-4866-A0FC-7DABCBC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52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A"/>
                </a:solidFill>
              </a:defRPr>
            </a:pPr>
            <a:r>
              <a:rPr sz="1650" b="1">
                <a:solidFill>
                  <a:srgbClr val="FAFAFA"/>
                </a:solidFill>
              </a:rPr>
              <a:t>Public launch</a:t>
            </a:r>
          </a:p>
        </p:txBody>
      </p:sp>
      <p:sp>
        <p:nvSpPr>
          <p:cNvPr id="24" name="days-body-3">
            <a:extLst xmlns:a="http://schemas.openxmlformats.org/drawingml/2006/main">
              <a:ext uri="{FF2B5EF4-FFF2-40B4-BE49-F238E27FC236}">
                <a16:creationId xmlns:a16="http://schemas.microsoft.com/office/drawing/2014/main" id="{A29A803B-C91A-4009-AAC9-B814E3D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528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Launch on X, then Product Hunt. Onboard serious signups live.</a:t>
            </a:r>
          </a:p>
        </p:txBody>
      </p:sp>
    </p:spTree>
    <p:extLst>
      <p:ext uri="{BB962C8B-B14F-4D97-AF65-F5344CB8AC3E}">
        <p14:creationId xmlns:p14="http://schemas.microsoft.com/office/powerpoint/2010/main" val="8485433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">
            <a:extLst xmlns:a="http://schemas.openxmlformats.org/drawingml/2006/main">
              <a:ext uri="{FF2B5EF4-FFF2-40B4-BE49-F238E27FC236}">
                <a16:creationId xmlns:a16="http://schemas.microsoft.com/office/drawing/2014/main" id="{B0AF7409-EBE7-4B01-AD25-1E083D8C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4ECD8119-4EF1-4F4A-89E7-ADE765A1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1192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3" name="eyebrow-12">
            <a:extLst xmlns:a="http://schemas.openxmlformats.org/drawingml/2006/main">
              <a:ext uri="{FF2B5EF4-FFF2-40B4-BE49-F238E27FC236}">
                <a16:creationId xmlns:a16="http://schemas.microsoft.com/office/drawing/2014/main" id="{30C35D65-BE34-4E9A-B60A-242C55D0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400"/>
                </a:solidFill>
              </a:defRPr>
            </a:pPr>
            <a:r>
              <a:rPr sz="900" b="1">
                <a:solidFill>
                  <a:srgbClr val="FF4400"/>
                </a:solidFill>
              </a:rPr>
              <a:t>IMMEDIATE NEXT STEPS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DF3EEA9A-B947-404C-97CC-AE4DF31D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AFAFA"/>
                </a:solidFill>
              </a:defRPr>
            </a:pPr>
            <a:r>
              <a:rPr sz="3150">
                <a:solidFill>
                  <a:srgbClr val="FAFAFA"/>
                </a:solidFill>
              </a:rPr>
              <a:t>Create proof before spending on scale.</a:t>
            </a:r>
          </a:p>
        </p:txBody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C76E1A10-A188-4811-A4E7-9FC32AE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REPLYPILOT GTM / 12</a:t>
            </a:r>
          </a:p>
        </p:txBody>
      </p:sp>
      <p:sp>
        <p:nvSpPr>
          <p:cNvPr id="6" name="next-dot-0">
            <a:extLst xmlns:a="http://schemas.openxmlformats.org/drawingml/2006/main">
              <a:ext uri="{FF2B5EF4-FFF2-40B4-BE49-F238E27FC236}">
                <a16:creationId xmlns:a16="http://schemas.microsoft.com/office/drawing/2014/main" id="{0429A9A4-52EB-4948-866E-7C9F2E7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7" name="next-text-0">
            <a:extLst xmlns:a="http://schemas.openxmlformats.org/drawingml/2006/main">
              <a:ext uri="{FF2B5EF4-FFF2-40B4-BE49-F238E27FC236}">
                <a16:creationId xmlns:a16="http://schemas.microsoft.com/office/drawing/2014/main" id="{9D7D85C2-A7C9-41C5-8BF3-B9CFF0A0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76450"/>
            <a:ext cx="889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AFAFA"/>
                </a:solidFill>
              </a:defRPr>
            </a:pPr>
            <a:r>
              <a:rPr sz="1650">
                <a:solidFill>
                  <a:srgbClr val="FAFAFA"/>
                </a:solidFill>
              </a:rPr>
              <a:t>Update landing-page copy around the reply window and conversation timing.</a:t>
            </a:r>
          </a:p>
        </p:txBody>
      </p:sp>
      <p:sp>
        <p:nvSpPr>
          <p:cNvPr id="8" name="next-dot-1">
            <a:extLst xmlns:a="http://schemas.openxmlformats.org/drawingml/2006/main">
              <a:ext uri="{FF2B5EF4-FFF2-40B4-BE49-F238E27FC236}">
                <a16:creationId xmlns:a16="http://schemas.microsoft.com/office/drawing/2014/main" id="{8D87361D-33A0-4FB2-A7BC-79D34CD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9" name="next-text-1">
            <a:extLst xmlns:a="http://schemas.openxmlformats.org/drawingml/2006/main">
              <a:ext uri="{FF2B5EF4-FFF2-40B4-BE49-F238E27FC236}">
                <a16:creationId xmlns:a16="http://schemas.microsoft.com/office/drawing/2014/main" id="{DA78559B-41EC-481C-B165-6670AE4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889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AFAFA"/>
                </a:solidFill>
              </a:defRPr>
            </a:pPr>
            <a:r>
              <a:rPr sz="1650">
                <a:solidFill>
                  <a:srgbClr val="FAFAFA"/>
                </a:solidFill>
              </a:rPr>
              <a:t>Build a 10-person design partner list from active founder accounts.</a:t>
            </a:r>
          </a:p>
        </p:txBody>
      </p:sp>
      <p:sp>
        <p:nvSpPr>
          <p:cNvPr id="10" name="next-dot-2">
            <a:extLst xmlns:a="http://schemas.openxmlformats.org/drawingml/2006/main">
              <a:ext uri="{FF2B5EF4-FFF2-40B4-BE49-F238E27FC236}">
                <a16:creationId xmlns:a16="http://schemas.microsoft.com/office/drawing/2014/main" id="{79FEA875-8F18-4D9B-9AD2-03C9E30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1" name="next-text-2">
            <a:extLst xmlns:a="http://schemas.openxmlformats.org/drawingml/2006/main">
              <a:ext uri="{FF2B5EF4-FFF2-40B4-BE49-F238E27FC236}">
                <a16:creationId xmlns:a16="http://schemas.microsoft.com/office/drawing/2014/main" id="{023E8F49-DA68-4DE1-B471-9177E71C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889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AFAFA"/>
                </a:solidFill>
              </a:defRPr>
            </a:pPr>
            <a:r>
              <a:rPr sz="1650">
                <a:solidFill>
                  <a:srgbClr val="FAFAFA"/>
                </a:solidFill>
              </a:rPr>
              <a:t>Prepare concierge onboarding: niche, watched accounts, keywords, voice profile.</a:t>
            </a:r>
          </a:p>
        </p:txBody>
      </p:sp>
      <p:sp>
        <p:nvSpPr>
          <p:cNvPr id="12" name="next-dot-3">
            <a:extLst xmlns:a="http://schemas.openxmlformats.org/drawingml/2006/main">
              <a:ext uri="{FF2B5EF4-FFF2-40B4-BE49-F238E27FC236}">
                <a16:creationId xmlns:a16="http://schemas.microsoft.com/office/drawing/2014/main" id="{ADD51F2D-8E45-4F36-924B-7BFA1514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3" name="next-text-3">
            <a:extLst xmlns:a="http://schemas.openxmlformats.org/drawingml/2006/main">
              <a:ext uri="{FF2B5EF4-FFF2-40B4-BE49-F238E27FC236}">
                <a16:creationId xmlns:a16="http://schemas.microsoft.com/office/drawing/2014/main" id="{2DD60B80-6310-4398-8FB7-5C0BD977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889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AFAFA"/>
                </a:solidFill>
              </a:defRPr>
            </a:pPr>
            <a:r>
              <a:rPr sz="1650">
                <a:solidFill>
                  <a:srgbClr val="FAFAFA"/>
                </a:solidFill>
              </a:rPr>
              <a:t>Instrument first visit -&gt; first copied or sent reply.</a:t>
            </a:r>
          </a:p>
        </p:txBody>
      </p:sp>
      <p:sp>
        <p:nvSpPr>
          <p:cNvPr id="14" name="next-dot-4">
            <a:extLst xmlns:a="http://schemas.openxmlformats.org/drawingml/2006/main">
              <a:ext uri="{FF2B5EF4-FFF2-40B4-BE49-F238E27FC236}">
                <a16:creationId xmlns:a16="http://schemas.microsoft.com/office/drawing/2014/main" id="{9D23A2FE-B777-49C8-9664-D5DF6ECE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400"/>
          </a:solidFill>
          <a:ln xmlns:a="http://schemas.openxmlformats.org/drawingml/2006/main" w="9525">
            <a:solidFill>
              <a:srgbClr val="FF4400"/>
            </a:solidFill>
            <a:prstDash val="solid"/>
          </a:ln>
        </p:spPr>
      </p:sp>
      <p:sp>
        <p:nvSpPr>
          <p:cNvPr id="15" name="next-text-4">
            <a:extLst xmlns:a="http://schemas.openxmlformats.org/drawingml/2006/main">
              <a:ext uri="{FF2B5EF4-FFF2-40B4-BE49-F238E27FC236}">
                <a16:creationId xmlns:a16="http://schemas.microsoft.com/office/drawing/2014/main" id="{920699C9-B52C-4C37-A7D3-2B71CE5D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889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AFAFA"/>
                </a:solidFill>
              </a:defRPr>
            </a:pPr>
            <a:r>
              <a:rPr sz="1650">
                <a:solidFill>
                  <a:srgbClr val="FAFAFA"/>
                </a:solidFill>
              </a:rPr>
              <a:t>Use ReplyPilot daily from the founder account and publish one teardown per week.</a:t>
            </a:r>
          </a:p>
        </p:txBody>
      </p:sp>
      <p:sp>
        <p:nvSpPr>
          <p:cNvPr id="16" name="sources">
            <a:extLst xmlns:a="http://schemas.openxmlformats.org/drawingml/2006/main">
              <a:ext uri="{FF2B5EF4-FFF2-40B4-BE49-F238E27FC236}">
                <a16:creationId xmlns:a16="http://schemas.microsoft.com/office/drawing/2014/main" id="{78549388-1616-43BF-8B58-EA0076FE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</a:defRPr>
            </a:pPr>
            <a:r>
              <a:rPr sz="1200">
                <a:solidFill>
                  <a:srgbClr val="777777"/>
                </a:solidFill>
              </a:rPr>
              <a:t>Sources used: PRD, product strategy, design system, X API pricing, Typefully, Tweet Hunter, and Hypefury public positioning.</a:t>
            </a:r>
          </a:p>
        </p:txBody>
      </p:sp>
    </p:spTree>
    <p:extLst>
      <p:ext uri="{BB962C8B-B14F-4D97-AF65-F5344CB8AC3E}">
        <p14:creationId xmlns:p14="http://schemas.microsoft.com/office/powerpoint/2010/main" val="1552696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2026-07-09T23:25:44.3320000Z</dcterms:created>
  <dcterms:modified xsi:type="dcterms:W3CDTF">2026-07-09T23:25:44.3320000Z</dcterms:modified>
</coreProperties>
</file>